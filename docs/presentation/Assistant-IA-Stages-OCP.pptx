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FFFFFF"/>
                </a:solidFill>
                <a:latin typeface="Arial"/>
              </a:defRPr>
            </a:pPr>
            <a:r>
              <a:rPr sz="1500" b="0" i="0" u="none" strike="noStrike">
                <a:solidFill>
                  <a:srgbClr val="FFFFFF"/>
                </a:solidFill>
                <a:latin typeface="Arial"/>
              </a:rPr>
              <a:t>84 tests automatisés</a:t>
            </a:r>
          </a:p>
        </c:rich>
      </c:tx>
      <c:layout/>
      <c:overlay val="0"/>
    </c:title>
    <c:autoTitleDeleted val="0"/>
    <c:plotArea>
      <c:layout/>
      <c:barChart>
        <c:barDir val="col"/>
        <c:grouping val="clustered"/>
        <c:varyColors val="0"/>
        <c:ser>
          <c:idx val="0"/>
          <c:order val="0"/>
          <c:tx>
            <c:strRef>
              <c:f>Sheet1!$B$1</c:f>
              <c:strCache>
                <c:ptCount val="1"/>
                <c:pt idx="0">
                  <c:v>Tests automatisés</c:v>
                </c:pt>
              </c:strCache>
            </c:strRef>
          </c:tx>
          <c:spPr>
            <a:solidFill>
              <a:srgbClr val="76B900"/>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API serverless</c:v>
                  </c:pt>
                  <c:pt idx="1">
                    <c:v>Backend Python</c:v>
                  </c:pt>
                  <c:pt idx="2">
                    <c:v>Interface</c:v>
                  </c:pt>
                </c:lvl>
              </c:multiLvlStrCache>
            </c:multiLvlStrRef>
          </c:cat>
          <c:val>
            <c:numRef>
              <c:f>Sheet1!$B$2:$B$4</c:f>
              <c:numCache>
                <c:formatCode>General</c:formatCode>
                <c:ptCount val="3"/>
                <c:pt idx="0">
                  <c:v>50</c:v>
                </c:pt>
                <c:pt idx="1">
                  <c:v>25</c:v>
                </c:pt>
                <c:pt idx="2">
                  <c:v>9</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AA4A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2A2A2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9AA4AE"/>
                </a:solidFill>
                <a:latin typeface="Arial"/>
              </a:defRPr>
            </a:pPr>
            <a:endParaRPr lang="en-US"/>
          </a:p>
        </c:txPr>
        <c:crossAx val="2094734554"/>
        <c:crosses val="autoZero"/>
        <c:crossBetween val="between"/>
      </c:valAx>
      <c:spPr>
        <a:solidFill>
          <a:srgbClr val="0A0A0A"/>
        </a:solidFill>
        <a:ln>
          <a:noFill/>
        </a:ln>
        <a:effectLst/>
      </c:spPr>
    </c:plotArea>
    <c:plotVisOnly val="1"/>
    <c:dispBlanksAs val="span"/>
  </c:chart>
  <c:spPr>
    <a:solidFill>
      <a:srgbClr val="0A0A0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Plateforme complète de gestion des stages pour OCP, développée en projet de fin d'année. Trois piliers : analyse automatique des CV, affectation optimale, et traçabilité des décisions.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clé est le troisième : une affectation offre par offre ne donne jamais l'optimum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L'étape 4 est le cœur différenciant : optimum global, pas un remplissage glouton offre par offre.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socle FastAPI est une seconde implémentation du même domaine, gardée pour les fonctions qui exigent pgvector et spaCy. La parité de scoring entre les deux est vérifiée par des tests partagés.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choix serverless supprime l'administration système et facture à l'usage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cache d'extraction est ce qui rend l'usage soutenable : ré-analyser un CV identique est gratuit.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passage d'un routage figé à un agent à outils est ce qui rend la conversation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diagramme est livré en PlantUML, en Mermaid et en image, versionnés avec 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parité TS/Python est le test le plus précieux : il empêche les deux implémentations de diverger.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est déployé et utilisable ; le déploiement est déclenché à chaque évolution.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les limites soi-même vaut mieux que de les laisser découvrir 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Terminer sur la démonstration : parcours candidat, affectation, puis assistant conversationnel.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5486400" y="5623560"/>
            <a:ext cx="23774400" cy="5029200"/>
          </a:xfrm>
          <a:prstGeom prst="ellipse">
            <a:avLst/>
          </a:prstGeom>
          <a:solidFill>
            <a:srgbClr val="76B900">
              <a:alpha val="7000"/>
            </a:srgbClr>
          </a:solidFill>
          <a:ln w="12700">
            <a:solidFill>
              <a:srgbClr val="76B900">
                <a:alpha val="0"/>
              </a:srgbClr>
            </a:solidFill>
            <a:prstDash val="solid"/>
          </a:ln>
        </p:spPr>
      </p:sp>
      <p:sp>
        <p:nvSpPr>
          <p:cNvPr id="3" name="Text 1"/>
          <p:cNvSpPr/>
          <p:nvPr/>
        </p:nvSpPr>
        <p:spPr>
          <a:xfrm>
            <a:off x="640080" y="1371600"/>
            <a:ext cx="5486400" cy="365760"/>
          </a:xfrm>
          <a:prstGeom prst="rect">
            <a:avLst/>
          </a:prstGeom>
          <a:noFill/>
          <a:ln/>
        </p:spPr>
        <p:txBody>
          <a:bodyPr wrap="square" lIns="0" tIns="0" rIns="0" bIns="0" rtlCol="0" anchor="ctr"/>
          <a:lstStyle/>
          <a:p>
            <a:pPr indent="0" marL="0">
              <a:buNone/>
            </a:pPr>
            <a:r>
              <a:rPr lang="en-US" sz="1600" b="1" spc="300" kern="0" dirty="0">
                <a:solidFill>
                  <a:srgbClr val="76B900"/>
                </a:solidFill>
                <a:latin typeface="Arial" pitchFamily="34" charset="0"/>
                <a:ea typeface="Arial" pitchFamily="34" charset="-122"/>
                <a:cs typeface="Arial" pitchFamily="34" charset="-120"/>
              </a:rPr>
              <a:t>OCP</a:t>
            </a:r>
            <a:endParaRPr lang="en-US" sz="1600" dirty="0"/>
          </a:p>
        </p:txBody>
      </p:sp>
      <p:sp>
        <p:nvSpPr>
          <p:cNvPr id="4" name="Text 2"/>
          <p:cNvSpPr/>
          <p:nvPr/>
        </p:nvSpPr>
        <p:spPr>
          <a:xfrm>
            <a:off x="640080" y="1828800"/>
            <a:ext cx="7863840" cy="192024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Arial" pitchFamily="34" charset="0"/>
                <a:ea typeface="Arial" pitchFamily="34" charset="-122"/>
                <a:cs typeface="Arial" pitchFamily="34" charset="-120"/>
              </a:rPr>
              <a:t>Assistant IA de</a:t>
            </a:r>
            <a:endParaRPr lang="en-US" sz="4600" dirty="0"/>
          </a:p>
          <a:p>
            <a:pPr indent="0" marL="0">
              <a:lnSpc>
                <a:spcPts val="5000"/>
              </a:lnSpc>
              <a:buNone/>
            </a:pPr>
            <a:r>
              <a:rPr lang="en-US" sz="4600" b="1" dirty="0">
                <a:solidFill>
                  <a:srgbClr val="FFFFFF"/>
                </a:solidFill>
                <a:latin typeface="Arial" pitchFamily="34" charset="0"/>
                <a:ea typeface="Arial" pitchFamily="34" charset="-122"/>
                <a:cs typeface="Arial" pitchFamily="34" charset="-120"/>
              </a:rPr>
              <a:t>gestion des stages</a:t>
            </a:r>
            <a:endParaRPr lang="en-US" sz="4600" dirty="0"/>
          </a:p>
        </p:txBody>
      </p:sp>
      <p:sp>
        <p:nvSpPr>
          <p:cNvPr id="5" name="Text 3"/>
          <p:cNvSpPr/>
          <p:nvPr/>
        </p:nvSpPr>
        <p:spPr>
          <a:xfrm>
            <a:off x="640080" y="3886200"/>
            <a:ext cx="7863840" cy="822960"/>
          </a:xfrm>
          <a:prstGeom prst="rect">
            <a:avLst/>
          </a:prstGeom>
          <a:noFill/>
          <a:ln/>
        </p:spPr>
        <p:txBody>
          <a:bodyPr wrap="square" lIns="0" tIns="0" rIns="0" bIns="0" rtlCol="0" anchor="ctr"/>
          <a:lstStyle/>
          <a:p>
            <a:pPr indent="0" marL="0">
              <a:buNone/>
            </a:pPr>
            <a:r>
              <a:rPr lang="en-US" sz="1600" dirty="0">
                <a:solidFill>
                  <a:srgbClr val="9AA4AE"/>
                </a:solidFill>
                <a:latin typeface="Calibri" pitchFamily="34" charset="0"/>
                <a:ea typeface="Calibri" pitchFamily="34" charset="-122"/>
                <a:cs typeface="Calibri" pitchFamily="34" charset="-120"/>
              </a:rPr>
              <a:t>Automatiser le tri des candidatures, expliquer chaque décision,</a:t>
            </a:r>
            <a:endParaRPr lang="en-US" sz="1600" dirty="0"/>
          </a:p>
          <a:p>
            <a:pPr indent="0" marL="0">
              <a:buNone/>
            </a:pPr>
            <a:r>
              <a:rPr lang="en-US" sz="1600" dirty="0">
                <a:solidFill>
                  <a:srgbClr val="9AA4AE"/>
                </a:solidFill>
                <a:latin typeface="Calibri" pitchFamily="34" charset="0"/>
                <a:ea typeface="Calibri" pitchFamily="34" charset="-122"/>
                <a:cs typeface="Calibri" pitchFamily="34" charset="-120"/>
              </a:rPr>
              <a:t>et affecter les stagiaires de façon optimale.</a:t>
            </a:r>
            <a:endParaRPr lang="en-US" sz="1600" dirty="0"/>
          </a:p>
        </p:txBody>
      </p:sp>
      <p:sp>
        <p:nvSpPr>
          <p:cNvPr id="6" name="Text 4"/>
          <p:cNvSpPr/>
          <p:nvPr/>
        </p:nvSpPr>
        <p:spPr>
          <a:xfrm>
            <a:off x="640080" y="5943600"/>
            <a:ext cx="7315200" cy="320040"/>
          </a:xfrm>
          <a:prstGeom prst="rect">
            <a:avLst/>
          </a:prstGeom>
          <a:noFill/>
          <a:ln/>
        </p:spPr>
        <p:txBody>
          <a:bodyPr wrap="square" lIns="0" tIns="0" rIns="0" bIns="0" rtlCol="0" anchor="ctr"/>
          <a:lstStyle/>
          <a:p>
            <a:pPr indent="0" marL="0">
              <a:buNone/>
            </a:pPr>
            <a:r>
              <a:rPr lang="en-US" sz="1300" dirty="0">
                <a:solidFill>
                  <a:srgbClr val="9AA4AE"/>
                </a:solidFill>
                <a:latin typeface="Calibri" pitchFamily="34" charset="0"/>
                <a:ea typeface="Calibri" pitchFamily="34" charset="-122"/>
                <a:cs typeface="Calibri" pitchFamily="34" charset="-120"/>
              </a:rPr>
              <a:t>Projet de fin d'année  ·  Abdellah Bedda</a:t>
            </a:r>
            <a:endParaRPr lang="en-US" sz="1300" dirty="0"/>
          </a:p>
        </p:txBody>
      </p:sp>
      <p:sp>
        <p:nvSpPr>
          <p:cNvPr id="7" name="Text 5"/>
          <p:cNvSpPr/>
          <p:nvPr/>
        </p:nvSpPr>
        <p:spPr>
          <a:xfrm>
            <a:off x="8778240" y="1737360"/>
            <a:ext cx="1188720" cy="548640"/>
          </a:xfrm>
          <a:prstGeom prst="rect">
            <a:avLst/>
          </a:prstGeom>
          <a:noFill/>
          <a:ln/>
        </p:spPr>
        <p:txBody>
          <a:bodyPr wrap="square" lIns="0" tIns="0" rIns="0" bIns="0" rtlCol="0" anchor="ctr"/>
          <a:lstStyle/>
          <a:p>
            <a:pPr indent="0" marL="0">
              <a:buNone/>
            </a:pPr>
            <a:r>
              <a:rPr lang="en-US" sz="3000" b="1" dirty="0">
                <a:solidFill>
                  <a:srgbClr val="76B900"/>
                </a:solidFill>
                <a:latin typeface="Arial" pitchFamily="34" charset="0"/>
                <a:ea typeface="Arial" pitchFamily="34" charset="-122"/>
                <a:cs typeface="Arial" pitchFamily="34" charset="-120"/>
              </a:rPr>
              <a:t>19</a:t>
            </a:r>
            <a:endParaRPr lang="en-US" sz="3000" dirty="0"/>
          </a:p>
        </p:txBody>
      </p:sp>
      <p:sp>
        <p:nvSpPr>
          <p:cNvPr id="8" name="Text 6"/>
          <p:cNvSpPr/>
          <p:nvPr/>
        </p:nvSpPr>
        <p:spPr>
          <a:xfrm>
            <a:off x="10012680" y="1874520"/>
            <a:ext cx="2011680" cy="365760"/>
          </a:xfrm>
          <a:prstGeom prst="rect">
            <a:avLst/>
          </a:prstGeom>
          <a:noFill/>
          <a:ln/>
        </p:spPr>
        <p:txBody>
          <a:bodyPr wrap="square" lIns="0" tIns="0" rIns="0" bIns="0" rtlCol="0" anchor="ctr"/>
          <a:lstStyle/>
          <a:p>
            <a:pPr indent="0" marL="0">
              <a:buNone/>
            </a:pPr>
            <a:r>
              <a:rPr lang="en-US" sz="1300" dirty="0">
                <a:solidFill>
                  <a:srgbClr val="9AA4AE"/>
                </a:solidFill>
                <a:latin typeface="Calibri" pitchFamily="34" charset="0"/>
                <a:ea typeface="Calibri" pitchFamily="34" charset="-122"/>
                <a:cs typeface="Calibri" pitchFamily="34" charset="-120"/>
              </a:rPr>
              <a:t>endpoints</a:t>
            </a:r>
            <a:endParaRPr lang="en-US" sz="1300" dirty="0"/>
          </a:p>
        </p:txBody>
      </p:sp>
      <p:sp>
        <p:nvSpPr>
          <p:cNvPr id="9" name="Text 7"/>
          <p:cNvSpPr/>
          <p:nvPr/>
        </p:nvSpPr>
        <p:spPr>
          <a:xfrm>
            <a:off x="8778240" y="2788920"/>
            <a:ext cx="1188720" cy="548640"/>
          </a:xfrm>
          <a:prstGeom prst="rect">
            <a:avLst/>
          </a:prstGeom>
          <a:noFill/>
          <a:ln/>
        </p:spPr>
        <p:txBody>
          <a:bodyPr wrap="square" lIns="0" tIns="0" rIns="0" bIns="0" rtlCol="0" anchor="ctr"/>
          <a:lstStyle/>
          <a:p>
            <a:pPr indent="0" marL="0">
              <a:buNone/>
            </a:pPr>
            <a:r>
              <a:rPr lang="en-US" sz="3000" b="1" dirty="0">
                <a:solidFill>
                  <a:srgbClr val="76B900"/>
                </a:solidFill>
                <a:latin typeface="Arial" pitchFamily="34" charset="0"/>
                <a:ea typeface="Arial" pitchFamily="34" charset="-122"/>
                <a:cs typeface="Arial" pitchFamily="34" charset="-120"/>
              </a:rPr>
              <a:t>84</a:t>
            </a:r>
            <a:endParaRPr lang="en-US" sz="3000" dirty="0"/>
          </a:p>
        </p:txBody>
      </p:sp>
      <p:sp>
        <p:nvSpPr>
          <p:cNvPr id="10" name="Text 8"/>
          <p:cNvSpPr/>
          <p:nvPr/>
        </p:nvSpPr>
        <p:spPr>
          <a:xfrm>
            <a:off x="10012680" y="2926080"/>
            <a:ext cx="2011680" cy="365760"/>
          </a:xfrm>
          <a:prstGeom prst="rect">
            <a:avLst/>
          </a:prstGeom>
          <a:noFill/>
          <a:ln/>
        </p:spPr>
        <p:txBody>
          <a:bodyPr wrap="square" lIns="0" tIns="0" rIns="0" bIns="0" rtlCol="0" anchor="ctr"/>
          <a:lstStyle/>
          <a:p>
            <a:pPr indent="0" marL="0">
              <a:buNone/>
            </a:pPr>
            <a:r>
              <a:rPr lang="en-US" sz="1300" dirty="0">
                <a:solidFill>
                  <a:srgbClr val="9AA4AE"/>
                </a:solidFill>
                <a:latin typeface="Calibri" pitchFamily="34" charset="0"/>
                <a:ea typeface="Calibri" pitchFamily="34" charset="-122"/>
                <a:cs typeface="Calibri" pitchFamily="34" charset="-120"/>
              </a:rPr>
              <a:t>tests</a:t>
            </a:r>
            <a:endParaRPr lang="en-US" sz="1300" dirty="0"/>
          </a:p>
        </p:txBody>
      </p:sp>
      <p:sp>
        <p:nvSpPr>
          <p:cNvPr id="11" name="Text 9"/>
          <p:cNvSpPr/>
          <p:nvPr/>
        </p:nvSpPr>
        <p:spPr>
          <a:xfrm>
            <a:off x="8778240" y="3840480"/>
            <a:ext cx="1188720" cy="548640"/>
          </a:xfrm>
          <a:prstGeom prst="rect">
            <a:avLst/>
          </a:prstGeom>
          <a:noFill/>
          <a:ln/>
        </p:spPr>
        <p:txBody>
          <a:bodyPr wrap="square" lIns="0" tIns="0" rIns="0" bIns="0" rtlCol="0" anchor="ctr"/>
          <a:lstStyle/>
          <a:p>
            <a:pPr indent="0" marL="0">
              <a:buNone/>
            </a:pPr>
            <a:r>
              <a:rPr lang="en-US" sz="3000" b="1" dirty="0">
                <a:solidFill>
                  <a:srgbClr val="76B900"/>
                </a:solidFill>
                <a:latin typeface="Arial" pitchFamily="34" charset="0"/>
                <a:ea typeface="Arial" pitchFamily="34" charset="-122"/>
                <a:cs typeface="Arial" pitchFamily="34" charset="-120"/>
              </a:rPr>
              <a:t>16</a:t>
            </a:r>
            <a:endParaRPr lang="en-US" sz="3000" dirty="0"/>
          </a:p>
        </p:txBody>
      </p:sp>
      <p:sp>
        <p:nvSpPr>
          <p:cNvPr id="12" name="Text 10"/>
          <p:cNvSpPr/>
          <p:nvPr/>
        </p:nvSpPr>
        <p:spPr>
          <a:xfrm>
            <a:off x="10012680" y="3977640"/>
            <a:ext cx="2011680" cy="365760"/>
          </a:xfrm>
          <a:prstGeom prst="rect">
            <a:avLst/>
          </a:prstGeom>
          <a:noFill/>
          <a:ln/>
        </p:spPr>
        <p:txBody>
          <a:bodyPr wrap="square" lIns="0" tIns="0" rIns="0" bIns="0" rtlCol="0" anchor="ctr"/>
          <a:lstStyle/>
          <a:p>
            <a:pPr indent="0" marL="0">
              <a:buNone/>
            </a:pPr>
            <a:r>
              <a:rPr lang="en-US" sz="1300" dirty="0">
                <a:solidFill>
                  <a:srgbClr val="9AA4AE"/>
                </a:solidFill>
                <a:latin typeface="Calibri" pitchFamily="34" charset="0"/>
                <a:ea typeface="Calibri" pitchFamily="34" charset="-122"/>
                <a:cs typeface="Calibri" pitchFamily="34" charset="-120"/>
              </a:rPr>
              <a:t>tables</a:t>
            </a:r>
            <a:endParaRPr lang="en-US" sz="1300" dirty="0"/>
          </a:p>
        </p:txBody>
      </p:sp>
      <p:sp>
        <p:nvSpPr>
          <p:cNvPr id="13" name="Text 11"/>
          <p:cNvSpPr/>
          <p:nvPr/>
        </p:nvSpPr>
        <p:spPr>
          <a:xfrm>
            <a:off x="8778240" y="4892040"/>
            <a:ext cx="1188720" cy="548640"/>
          </a:xfrm>
          <a:prstGeom prst="rect">
            <a:avLst/>
          </a:prstGeom>
          <a:noFill/>
          <a:ln/>
        </p:spPr>
        <p:txBody>
          <a:bodyPr wrap="square" lIns="0" tIns="0" rIns="0" bIns="0" rtlCol="0" anchor="ctr"/>
          <a:lstStyle/>
          <a:p>
            <a:pPr indent="0" marL="0">
              <a:buNone/>
            </a:pPr>
            <a:r>
              <a:rPr lang="en-US" sz="3000" b="1" dirty="0">
                <a:solidFill>
                  <a:srgbClr val="76B900"/>
                </a:solidFill>
                <a:latin typeface="Arial" pitchFamily="34" charset="0"/>
                <a:ea typeface="Arial" pitchFamily="34" charset="-122"/>
                <a:cs typeface="Arial" pitchFamily="34" charset="-120"/>
              </a:rPr>
              <a:t>9</a:t>
            </a:r>
            <a:endParaRPr lang="en-US" sz="3000" dirty="0"/>
          </a:p>
        </p:txBody>
      </p:sp>
      <p:sp>
        <p:nvSpPr>
          <p:cNvPr id="14" name="Text 12"/>
          <p:cNvSpPr/>
          <p:nvPr/>
        </p:nvSpPr>
        <p:spPr>
          <a:xfrm>
            <a:off x="10012680" y="5029200"/>
            <a:ext cx="2011680" cy="365760"/>
          </a:xfrm>
          <a:prstGeom prst="rect">
            <a:avLst/>
          </a:prstGeom>
          <a:noFill/>
          <a:ln/>
        </p:spPr>
        <p:txBody>
          <a:bodyPr wrap="square" lIns="0" tIns="0" rIns="0" bIns="0" rtlCol="0" anchor="ctr"/>
          <a:lstStyle/>
          <a:p>
            <a:pPr indent="0" marL="0">
              <a:buNone/>
            </a:pPr>
            <a:r>
              <a:rPr lang="en-US" sz="1300" dirty="0">
                <a:solidFill>
                  <a:srgbClr val="9AA4AE"/>
                </a:solidFill>
                <a:latin typeface="Calibri" pitchFamily="34" charset="0"/>
                <a:ea typeface="Calibri" pitchFamily="34" charset="-122"/>
                <a:cs typeface="Calibri" pitchFamily="34" charset="-120"/>
              </a:rPr>
              <a:t>diagrammes UML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640080" y="411480"/>
            <a:ext cx="10908792" cy="68580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Le problème</a:t>
            </a:r>
            <a:endParaRPr lang="en-US" sz="3400" dirty="0"/>
          </a:p>
        </p:txBody>
      </p:sp>
      <p:sp>
        <p:nvSpPr>
          <p:cNvPr id="3" name="Text 1"/>
          <p:cNvSpPr/>
          <p:nvPr/>
        </p:nvSpPr>
        <p:spPr>
          <a:xfrm>
            <a:off x="640080" y="1078992"/>
            <a:ext cx="10908792" cy="384048"/>
          </a:xfrm>
          <a:prstGeom prst="rect">
            <a:avLst/>
          </a:prstGeom>
          <a:noFill/>
          <a:ln/>
        </p:spPr>
        <p:txBody>
          <a:bodyPr wrap="square" lIns="0" tIns="0" rIns="0" bIns="0" rtlCol="0" anchor="ctr"/>
          <a:lstStyle/>
          <a:p>
            <a:pPr indent="0" marL="0">
              <a:buNone/>
            </a:pPr>
            <a:r>
              <a:rPr lang="en-US" sz="1400" dirty="0">
                <a:solidFill>
                  <a:srgbClr val="9AA4AE"/>
                </a:solidFill>
                <a:latin typeface="Calibri" pitchFamily="34" charset="0"/>
                <a:ea typeface="Calibri" pitchFamily="34" charset="-122"/>
                <a:cs typeface="Calibri" pitchFamily="34" charset="-120"/>
              </a:rPr>
              <a:t>Ce que coûte le traitement manuel des candidatures de stage</a:t>
            </a:r>
            <a:endParaRPr lang="en-US" sz="1400" dirty="0"/>
          </a:p>
        </p:txBody>
      </p:sp>
      <p:sp>
        <p:nvSpPr>
          <p:cNvPr id="4" name="Shape 2"/>
          <p:cNvSpPr/>
          <p:nvPr/>
        </p:nvSpPr>
        <p:spPr>
          <a:xfrm>
            <a:off x="640080" y="1828800"/>
            <a:ext cx="3520440" cy="2743200"/>
          </a:xfrm>
          <a:prstGeom prst="roundRect">
            <a:avLst>
              <a:gd name="adj" fmla="val 3000"/>
            </a:avLst>
          </a:prstGeom>
          <a:solidFill>
            <a:srgbClr val="18181A"/>
          </a:solidFill>
          <a:ln w="12700">
            <a:solidFill>
              <a:srgbClr val="2A2A2A"/>
            </a:solidFill>
            <a:prstDash val="solid"/>
          </a:ln>
        </p:spPr>
      </p:sp>
      <p:sp>
        <p:nvSpPr>
          <p:cNvPr id="5" name="Shape 3"/>
          <p:cNvSpPr/>
          <p:nvPr/>
        </p:nvSpPr>
        <p:spPr>
          <a:xfrm>
            <a:off x="960120" y="2148840"/>
            <a:ext cx="420624" cy="420624"/>
          </a:xfrm>
          <a:prstGeom prst="ellipse">
            <a:avLst/>
          </a:prstGeom>
          <a:solidFill>
            <a:srgbClr val="76B900"/>
          </a:solidFill>
          <a:ln w="12700">
            <a:solidFill>
              <a:srgbClr val="76B900"/>
            </a:solidFill>
            <a:prstDash val="solid"/>
          </a:ln>
        </p:spPr>
      </p:sp>
      <p:sp>
        <p:nvSpPr>
          <p:cNvPr id="6" name="Text 4"/>
          <p:cNvSpPr/>
          <p:nvPr/>
        </p:nvSpPr>
        <p:spPr>
          <a:xfrm>
            <a:off x="960120" y="2148840"/>
            <a:ext cx="420624" cy="420624"/>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960120" y="2743200"/>
            <a:ext cx="288036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Volume</a:t>
            </a:r>
            <a:endParaRPr lang="en-US" sz="1900" dirty="0"/>
          </a:p>
        </p:txBody>
      </p:sp>
      <p:sp>
        <p:nvSpPr>
          <p:cNvPr id="8" name="Text 6"/>
          <p:cNvSpPr/>
          <p:nvPr/>
        </p:nvSpPr>
        <p:spPr>
          <a:xfrm>
            <a:off x="960120" y="3200400"/>
            <a:ext cx="2880360" cy="1188720"/>
          </a:xfrm>
          <a:prstGeom prst="rect">
            <a:avLst/>
          </a:prstGeom>
          <a:noFill/>
          <a:ln/>
        </p:spPr>
        <p:txBody>
          <a:bodyPr wrap="square" lIns="0" tIns="0" rIns="0" bIns="0" rtlCol="0" anchor="ctr"/>
          <a:lstStyle/>
          <a:p>
            <a:pPr indent="0" marL="0">
              <a:buNone/>
            </a:pPr>
            <a:r>
              <a:rPr lang="en-US" sz="1400" dirty="0">
                <a:solidFill>
                  <a:srgbClr val="9AA4AE"/>
                </a:solidFill>
                <a:latin typeface="Calibri" pitchFamily="34" charset="0"/>
                <a:ea typeface="Calibri" pitchFamily="34" charset="-122"/>
                <a:cs typeface="Calibri" pitchFamily="34" charset="-120"/>
              </a:rPr>
              <a:t>Des centaines de CV reçus par campagne, au format libre, à lire un par un.</a:t>
            </a:r>
            <a:endParaRPr lang="en-US" sz="1400" dirty="0"/>
          </a:p>
        </p:txBody>
      </p:sp>
      <p:sp>
        <p:nvSpPr>
          <p:cNvPr id="9" name="Shape 7"/>
          <p:cNvSpPr/>
          <p:nvPr/>
        </p:nvSpPr>
        <p:spPr>
          <a:xfrm>
            <a:off x="4434840" y="1828800"/>
            <a:ext cx="3520440" cy="2743200"/>
          </a:xfrm>
          <a:prstGeom prst="roundRect">
            <a:avLst>
              <a:gd name="adj" fmla="val 3000"/>
            </a:avLst>
          </a:prstGeom>
          <a:solidFill>
            <a:srgbClr val="18181A"/>
          </a:solidFill>
          <a:ln w="12700">
            <a:solidFill>
              <a:srgbClr val="2A2A2A"/>
            </a:solidFill>
            <a:prstDash val="solid"/>
          </a:ln>
        </p:spPr>
      </p:sp>
      <p:sp>
        <p:nvSpPr>
          <p:cNvPr id="10" name="Shape 8"/>
          <p:cNvSpPr/>
          <p:nvPr/>
        </p:nvSpPr>
        <p:spPr>
          <a:xfrm>
            <a:off x="4754880" y="2148840"/>
            <a:ext cx="420624" cy="420624"/>
          </a:xfrm>
          <a:prstGeom prst="ellipse">
            <a:avLst/>
          </a:prstGeom>
          <a:solidFill>
            <a:srgbClr val="76B900"/>
          </a:solidFill>
          <a:ln w="12700">
            <a:solidFill>
              <a:srgbClr val="76B900"/>
            </a:solidFill>
            <a:prstDash val="solid"/>
          </a:ln>
        </p:spPr>
      </p:sp>
      <p:sp>
        <p:nvSpPr>
          <p:cNvPr id="11" name="Text 9"/>
          <p:cNvSpPr/>
          <p:nvPr/>
        </p:nvSpPr>
        <p:spPr>
          <a:xfrm>
            <a:off x="4754880" y="2148840"/>
            <a:ext cx="420624" cy="420624"/>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4754880" y="2743200"/>
            <a:ext cx="288036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Subjectivité</a:t>
            </a:r>
            <a:endParaRPr lang="en-US" sz="1900" dirty="0"/>
          </a:p>
        </p:txBody>
      </p:sp>
      <p:sp>
        <p:nvSpPr>
          <p:cNvPr id="13" name="Text 11"/>
          <p:cNvSpPr/>
          <p:nvPr/>
        </p:nvSpPr>
        <p:spPr>
          <a:xfrm>
            <a:off x="4754880" y="3200400"/>
            <a:ext cx="2880360" cy="1188720"/>
          </a:xfrm>
          <a:prstGeom prst="rect">
            <a:avLst/>
          </a:prstGeom>
          <a:noFill/>
          <a:ln/>
        </p:spPr>
        <p:txBody>
          <a:bodyPr wrap="square" lIns="0" tIns="0" rIns="0" bIns="0" rtlCol="0" anchor="ctr"/>
          <a:lstStyle/>
          <a:p>
            <a:pPr indent="0" marL="0">
              <a:buNone/>
            </a:pPr>
            <a:r>
              <a:rPr lang="en-US" sz="1400" dirty="0">
                <a:solidFill>
                  <a:srgbClr val="9AA4AE"/>
                </a:solidFill>
                <a:latin typeface="Calibri" pitchFamily="34" charset="0"/>
                <a:ea typeface="Calibri" pitchFamily="34" charset="-122"/>
                <a:cs typeface="Calibri" pitchFamily="34" charset="-120"/>
              </a:rPr>
              <a:t>Le rapprochement CV / offre dépend du recruteur qui le fait, sans critère traçable.</a:t>
            </a:r>
            <a:endParaRPr lang="en-US" sz="1400" dirty="0"/>
          </a:p>
        </p:txBody>
      </p:sp>
      <p:sp>
        <p:nvSpPr>
          <p:cNvPr id="14" name="Shape 12"/>
          <p:cNvSpPr/>
          <p:nvPr/>
        </p:nvSpPr>
        <p:spPr>
          <a:xfrm>
            <a:off x="8229600" y="1828800"/>
            <a:ext cx="3520440" cy="2743200"/>
          </a:xfrm>
          <a:prstGeom prst="roundRect">
            <a:avLst>
              <a:gd name="adj" fmla="val 3000"/>
            </a:avLst>
          </a:prstGeom>
          <a:solidFill>
            <a:srgbClr val="18181A"/>
          </a:solidFill>
          <a:ln w="12700">
            <a:solidFill>
              <a:srgbClr val="2A2A2A"/>
            </a:solidFill>
            <a:prstDash val="solid"/>
          </a:ln>
        </p:spPr>
      </p:sp>
      <p:sp>
        <p:nvSpPr>
          <p:cNvPr id="15" name="Shape 13"/>
          <p:cNvSpPr/>
          <p:nvPr/>
        </p:nvSpPr>
        <p:spPr>
          <a:xfrm>
            <a:off x="8549640" y="2148840"/>
            <a:ext cx="420624" cy="420624"/>
          </a:xfrm>
          <a:prstGeom prst="ellipse">
            <a:avLst/>
          </a:prstGeom>
          <a:solidFill>
            <a:srgbClr val="76B900"/>
          </a:solidFill>
          <a:ln w="12700">
            <a:solidFill>
              <a:srgbClr val="76B900"/>
            </a:solidFill>
            <a:prstDash val="solid"/>
          </a:ln>
        </p:spPr>
      </p:sp>
      <p:sp>
        <p:nvSpPr>
          <p:cNvPr id="16" name="Text 14"/>
          <p:cNvSpPr/>
          <p:nvPr/>
        </p:nvSpPr>
        <p:spPr>
          <a:xfrm>
            <a:off x="8549640" y="2148840"/>
            <a:ext cx="420624" cy="420624"/>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8549640" y="2743200"/>
            <a:ext cx="288036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Vision partielle</a:t>
            </a:r>
            <a:endParaRPr lang="en-US" sz="1900" dirty="0"/>
          </a:p>
        </p:txBody>
      </p:sp>
      <p:sp>
        <p:nvSpPr>
          <p:cNvPr id="18" name="Text 16"/>
          <p:cNvSpPr/>
          <p:nvPr/>
        </p:nvSpPr>
        <p:spPr>
          <a:xfrm>
            <a:off x="8549640" y="3200400"/>
            <a:ext cx="2880360" cy="1188720"/>
          </a:xfrm>
          <a:prstGeom prst="rect">
            <a:avLst/>
          </a:prstGeom>
          <a:noFill/>
          <a:ln/>
        </p:spPr>
        <p:txBody>
          <a:bodyPr wrap="square" lIns="0" tIns="0" rIns="0" bIns="0" rtlCol="0" anchor="ctr"/>
          <a:lstStyle/>
          <a:p>
            <a:pPr indent="0" marL="0">
              <a:buNone/>
            </a:pPr>
            <a:r>
              <a:rPr lang="en-US" sz="1400" dirty="0">
                <a:solidFill>
                  <a:srgbClr val="9AA4AE"/>
                </a:solidFill>
                <a:latin typeface="Calibri" pitchFamily="34" charset="0"/>
                <a:ea typeface="Calibri" pitchFamily="34" charset="-122"/>
                <a:cs typeface="Calibri" pitchFamily="34" charset="-120"/>
              </a:rPr>
              <a:t>Chaque offre est pourvue isolément : personne n'optimise l'ensemble.</a:t>
            </a:r>
            <a:endParaRPr lang="en-US" sz="1400" dirty="0"/>
          </a:p>
        </p:txBody>
      </p:sp>
      <p:sp>
        <p:nvSpPr>
          <p:cNvPr id="19" name="Text 17"/>
          <p:cNvSpPr/>
          <p:nvPr/>
        </p:nvSpPr>
        <p:spPr>
          <a:xfrm>
            <a:off x="640080" y="4937760"/>
            <a:ext cx="10908792" cy="457200"/>
          </a:xfrm>
          <a:prstGeom prst="rect">
            <a:avLst/>
          </a:prstGeom>
          <a:noFill/>
          <a:ln/>
        </p:spPr>
        <p:txBody>
          <a:bodyPr wrap="square" lIns="0" tIns="0" rIns="0" bIns="0" rtlCol="0" anchor="ctr"/>
          <a:lstStyle/>
          <a:p>
            <a:pPr indent="0" marL="0">
              <a:buNone/>
            </a:pPr>
            <a:r>
              <a:rPr lang="en-US" sz="1500" i="1" dirty="0">
                <a:solidFill>
                  <a:srgbClr val="8FD400"/>
                </a:solidFill>
                <a:latin typeface="Calibri" pitchFamily="34" charset="0"/>
                <a:ea typeface="Calibri" pitchFamily="34" charset="-122"/>
                <a:cs typeface="Calibri" pitchFamily="34" charset="-120"/>
              </a:rPr>
              <a:t>Conséquence : des délais longs, des affectations sous-optimales, et aucune justification opposable.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640080" y="411480"/>
            <a:ext cx="10908792" cy="68580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Le parcours, de bout en bout</a:t>
            </a:r>
            <a:endParaRPr lang="en-US" sz="3400" dirty="0"/>
          </a:p>
        </p:txBody>
      </p:sp>
      <p:sp>
        <p:nvSpPr>
          <p:cNvPr id="3" name="Text 1"/>
          <p:cNvSpPr/>
          <p:nvPr/>
        </p:nvSpPr>
        <p:spPr>
          <a:xfrm>
            <a:off x="640080" y="1078992"/>
            <a:ext cx="10908792" cy="384048"/>
          </a:xfrm>
          <a:prstGeom prst="rect">
            <a:avLst/>
          </a:prstGeom>
          <a:noFill/>
          <a:ln/>
        </p:spPr>
        <p:txBody>
          <a:bodyPr wrap="square" lIns="0" tIns="0" rIns="0" bIns="0" rtlCol="0" anchor="ctr"/>
          <a:lstStyle/>
          <a:p>
            <a:pPr indent="0" marL="0">
              <a:buNone/>
            </a:pPr>
            <a:r>
              <a:rPr lang="en-US" sz="1400" dirty="0">
                <a:solidFill>
                  <a:srgbClr val="9AA4AE"/>
                </a:solidFill>
                <a:latin typeface="Calibri" pitchFamily="34" charset="0"/>
                <a:ea typeface="Calibri" pitchFamily="34" charset="-122"/>
                <a:cs typeface="Calibri" pitchFamily="34" charset="-120"/>
              </a:rPr>
              <a:t>Du dépôt du CV à la réservation d'une place de stage</a:t>
            </a:r>
            <a:endParaRPr lang="en-US" sz="1400" dirty="0"/>
          </a:p>
        </p:txBody>
      </p:sp>
      <p:sp>
        <p:nvSpPr>
          <p:cNvPr id="4" name="Shape 2"/>
          <p:cNvSpPr/>
          <p:nvPr/>
        </p:nvSpPr>
        <p:spPr>
          <a:xfrm>
            <a:off x="640080" y="1965960"/>
            <a:ext cx="2084832" cy="2377440"/>
          </a:xfrm>
          <a:prstGeom prst="roundRect">
            <a:avLst>
              <a:gd name="adj" fmla="val 3947"/>
            </a:avLst>
          </a:prstGeom>
          <a:solidFill>
            <a:srgbClr val="18181A"/>
          </a:solidFill>
          <a:ln w="12700">
            <a:solidFill>
              <a:srgbClr val="2A2A2A"/>
            </a:solidFill>
            <a:prstDash val="solid"/>
          </a:ln>
        </p:spPr>
      </p:sp>
      <p:sp>
        <p:nvSpPr>
          <p:cNvPr id="5" name="Shape 3"/>
          <p:cNvSpPr/>
          <p:nvPr/>
        </p:nvSpPr>
        <p:spPr>
          <a:xfrm>
            <a:off x="914400" y="2240280"/>
            <a:ext cx="384048" cy="384048"/>
          </a:xfrm>
          <a:prstGeom prst="ellipse">
            <a:avLst/>
          </a:prstGeom>
          <a:solidFill>
            <a:srgbClr val="76B900"/>
          </a:solidFill>
          <a:ln w="12700">
            <a:solidFill>
              <a:srgbClr val="76B900"/>
            </a:solidFill>
            <a:prstDash val="solid"/>
          </a:ln>
        </p:spPr>
      </p:sp>
      <p:sp>
        <p:nvSpPr>
          <p:cNvPr id="6" name="Text 4"/>
          <p:cNvSpPr/>
          <p:nvPr/>
        </p:nvSpPr>
        <p:spPr>
          <a:xfrm>
            <a:off x="914400" y="2240280"/>
            <a:ext cx="384048" cy="384048"/>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914400" y="2788920"/>
            <a:ext cx="1536192"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Postuler</a:t>
            </a:r>
            <a:endParaRPr lang="en-US" sz="1600" dirty="0"/>
          </a:p>
        </p:txBody>
      </p:sp>
      <p:sp>
        <p:nvSpPr>
          <p:cNvPr id="8" name="Text 6"/>
          <p:cNvSpPr/>
          <p:nvPr/>
        </p:nvSpPr>
        <p:spPr>
          <a:xfrm>
            <a:off x="914400" y="3200400"/>
            <a:ext cx="1536192" cy="1005840"/>
          </a:xfrm>
          <a:prstGeom prst="rect">
            <a:avLst/>
          </a:prstGeom>
          <a:noFill/>
          <a:ln/>
        </p:spPr>
        <p:txBody>
          <a:bodyPr wrap="square" lIns="0" tIns="0" rIns="0" bIns="0" rtlCol="0" anchor="ctr"/>
          <a:lstStyle/>
          <a:p>
            <a:pPr indent="0" marL="0">
              <a:buNone/>
            </a:pPr>
            <a:r>
              <a:rPr lang="en-US" sz="1200" dirty="0">
                <a:solidFill>
                  <a:srgbClr val="9AA4AE"/>
                </a:solidFill>
                <a:latin typeface="Calibri" pitchFamily="34" charset="0"/>
                <a:ea typeface="Calibri" pitchFamily="34" charset="-122"/>
                <a:cs typeface="Calibri" pitchFamily="34" charset="-120"/>
              </a:rPr>
              <a:t>Le candidat dépose son CV et précise la période souhaitée.</a:t>
            </a:r>
            <a:endParaRPr lang="en-US" sz="1200" dirty="0"/>
          </a:p>
        </p:txBody>
      </p:sp>
      <p:sp>
        <p:nvSpPr>
          <p:cNvPr id="9" name="Text 7"/>
          <p:cNvSpPr/>
          <p:nvPr/>
        </p:nvSpPr>
        <p:spPr>
          <a:xfrm>
            <a:off x="2734056" y="2880360"/>
            <a:ext cx="146304" cy="365760"/>
          </a:xfrm>
          <a:prstGeom prst="rect">
            <a:avLst/>
          </a:prstGeom>
          <a:noFill/>
          <a:ln/>
        </p:spPr>
        <p:txBody>
          <a:bodyPr wrap="square" lIns="0" tIns="0" rIns="0" bIns="0" rtlCol="0" anchor="ctr"/>
          <a:lstStyle/>
          <a:p>
            <a:pPr algn="ctr" indent="0" marL="0">
              <a:buNone/>
            </a:pPr>
            <a:r>
              <a:rPr lang="en-US" sz="2000" dirty="0">
                <a:solidFill>
                  <a:srgbClr val="76B900"/>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2871216" y="1965960"/>
            <a:ext cx="2084832" cy="2377440"/>
          </a:xfrm>
          <a:prstGeom prst="roundRect">
            <a:avLst>
              <a:gd name="adj" fmla="val 3947"/>
            </a:avLst>
          </a:prstGeom>
          <a:solidFill>
            <a:srgbClr val="18181A"/>
          </a:solidFill>
          <a:ln w="12700">
            <a:solidFill>
              <a:srgbClr val="2A2A2A"/>
            </a:solidFill>
            <a:prstDash val="solid"/>
          </a:ln>
        </p:spPr>
      </p:sp>
      <p:sp>
        <p:nvSpPr>
          <p:cNvPr id="11" name="Shape 9"/>
          <p:cNvSpPr/>
          <p:nvPr/>
        </p:nvSpPr>
        <p:spPr>
          <a:xfrm>
            <a:off x="3145536" y="2240280"/>
            <a:ext cx="384048" cy="384048"/>
          </a:xfrm>
          <a:prstGeom prst="ellipse">
            <a:avLst/>
          </a:prstGeom>
          <a:solidFill>
            <a:srgbClr val="76B900"/>
          </a:solidFill>
          <a:ln w="12700">
            <a:solidFill>
              <a:srgbClr val="76B900"/>
            </a:solidFill>
            <a:prstDash val="solid"/>
          </a:ln>
        </p:spPr>
      </p:sp>
      <p:sp>
        <p:nvSpPr>
          <p:cNvPr id="12" name="Text 10"/>
          <p:cNvSpPr/>
          <p:nvPr/>
        </p:nvSpPr>
        <p:spPr>
          <a:xfrm>
            <a:off x="3145536" y="2240280"/>
            <a:ext cx="384048" cy="384048"/>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3145536" y="2788920"/>
            <a:ext cx="1536192"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Analyser</a:t>
            </a:r>
            <a:endParaRPr lang="en-US" sz="1600" dirty="0"/>
          </a:p>
        </p:txBody>
      </p:sp>
      <p:sp>
        <p:nvSpPr>
          <p:cNvPr id="14" name="Text 12"/>
          <p:cNvSpPr/>
          <p:nvPr/>
        </p:nvSpPr>
        <p:spPr>
          <a:xfrm>
            <a:off x="3145536" y="3200400"/>
            <a:ext cx="1536192" cy="1005840"/>
          </a:xfrm>
          <a:prstGeom prst="rect">
            <a:avLst/>
          </a:prstGeom>
          <a:noFill/>
          <a:ln/>
        </p:spPr>
        <p:txBody>
          <a:bodyPr wrap="square" lIns="0" tIns="0" rIns="0" bIns="0" rtlCol="0" anchor="ctr"/>
          <a:lstStyle/>
          <a:p>
            <a:pPr indent="0" marL="0">
              <a:buNone/>
            </a:pPr>
            <a:r>
              <a:rPr lang="en-US" sz="1200" dirty="0">
                <a:solidFill>
                  <a:srgbClr val="9AA4AE"/>
                </a:solidFill>
                <a:latin typeface="Calibri" pitchFamily="34" charset="0"/>
                <a:ea typeface="Calibri" pitchFamily="34" charset="-122"/>
                <a:cs typeface="Calibri" pitchFamily="34" charset="-120"/>
              </a:rPr>
              <a:t>Le CV est lu par un LLM : compétences, formation, expérience.</a:t>
            </a:r>
            <a:endParaRPr lang="en-US" sz="1200" dirty="0"/>
          </a:p>
        </p:txBody>
      </p:sp>
      <p:sp>
        <p:nvSpPr>
          <p:cNvPr id="15" name="Text 13"/>
          <p:cNvSpPr/>
          <p:nvPr/>
        </p:nvSpPr>
        <p:spPr>
          <a:xfrm>
            <a:off x="4965192" y="2880360"/>
            <a:ext cx="146304" cy="365760"/>
          </a:xfrm>
          <a:prstGeom prst="rect">
            <a:avLst/>
          </a:prstGeom>
          <a:noFill/>
          <a:ln/>
        </p:spPr>
        <p:txBody>
          <a:bodyPr wrap="square" lIns="0" tIns="0" rIns="0" bIns="0" rtlCol="0" anchor="ctr"/>
          <a:lstStyle/>
          <a:p>
            <a:pPr algn="ctr" indent="0" marL="0">
              <a:buNone/>
            </a:pPr>
            <a:r>
              <a:rPr lang="en-US" sz="2000" dirty="0">
                <a:solidFill>
                  <a:srgbClr val="76B900"/>
                </a:solidFill>
                <a:latin typeface="Arial" pitchFamily="34" charset="0"/>
                <a:ea typeface="Arial" pitchFamily="34" charset="-122"/>
                <a:cs typeface="Arial" pitchFamily="34" charset="-120"/>
              </a:rPr>
              <a:t>›</a:t>
            </a:r>
            <a:endParaRPr lang="en-US" sz="2000" dirty="0"/>
          </a:p>
        </p:txBody>
      </p:sp>
      <p:sp>
        <p:nvSpPr>
          <p:cNvPr id="16" name="Shape 14"/>
          <p:cNvSpPr/>
          <p:nvPr/>
        </p:nvSpPr>
        <p:spPr>
          <a:xfrm>
            <a:off x="5102352" y="1965960"/>
            <a:ext cx="2084832" cy="2377440"/>
          </a:xfrm>
          <a:prstGeom prst="roundRect">
            <a:avLst>
              <a:gd name="adj" fmla="val 3947"/>
            </a:avLst>
          </a:prstGeom>
          <a:solidFill>
            <a:srgbClr val="18181A"/>
          </a:solidFill>
          <a:ln w="12700">
            <a:solidFill>
              <a:srgbClr val="2A2A2A"/>
            </a:solidFill>
            <a:prstDash val="solid"/>
          </a:ln>
        </p:spPr>
      </p:sp>
      <p:sp>
        <p:nvSpPr>
          <p:cNvPr id="17" name="Shape 15"/>
          <p:cNvSpPr/>
          <p:nvPr/>
        </p:nvSpPr>
        <p:spPr>
          <a:xfrm>
            <a:off x="5376672" y="2240280"/>
            <a:ext cx="384048" cy="384048"/>
          </a:xfrm>
          <a:prstGeom prst="ellipse">
            <a:avLst/>
          </a:prstGeom>
          <a:solidFill>
            <a:srgbClr val="76B900"/>
          </a:solidFill>
          <a:ln w="12700">
            <a:solidFill>
              <a:srgbClr val="76B900"/>
            </a:solidFill>
            <a:prstDash val="solid"/>
          </a:ln>
        </p:spPr>
      </p:sp>
      <p:sp>
        <p:nvSpPr>
          <p:cNvPr id="18" name="Text 16"/>
          <p:cNvSpPr/>
          <p:nvPr/>
        </p:nvSpPr>
        <p:spPr>
          <a:xfrm>
            <a:off x="5376672" y="2240280"/>
            <a:ext cx="384048" cy="384048"/>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5376672" y="2788920"/>
            <a:ext cx="1536192"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Scorer</a:t>
            </a:r>
            <a:endParaRPr lang="en-US" sz="1600" dirty="0"/>
          </a:p>
        </p:txBody>
      </p:sp>
      <p:sp>
        <p:nvSpPr>
          <p:cNvPr id="20" name="Text 18"/>
          <p:cNvSpPr/>
          <p:nvPr/>
        </p:nvSpPr>
        <p:spPr>
          <a:xfrm>
            <a:off x="5376672" y="3200400"/>
            <a:ext cx="1536192" cy="1005840"/>
          </a:xfrm>
          <a:prstGeom prst="rect">
            <a:avLst/>
          </a:prstGeom>
          <a:noFill/>
          <a:ln/>
        </p:spPr>
        <p:txBody>
          <a:bodyPr wrap="square" lIns="0" tIns="0" rIns="0" bIns="0" rtlCol="0" anchor="ctr"/>
          <a:lstStyle/>
          <a:p>
            <a:pPr indent="0" marL="0">
              <a:buNone/>
            </a:pPr>
            <a:r>
              <a:rPr lang="en-US" sz="1200" dirty="0">
                <a:solidFill>
                  <a:srgbClr val="9AA4AE"/>
                </a:solidFill>
                <a:latin typeface="Calibri" pitchFamily="34" charset="0"/>
                <a:ea typeface="Calibri" pitchFamily="34" charset="-122"/>
                <a:cs typeface="Calibri" pitchFamily="34" charset="-120"/>
              </a:rPr>
              <a:t>Chaque couple candidat / offre reçoit un score détaillé.</a:t>
            </a:r>
            <a:endParaRPr lang="en-US" sz="1200" dirty="0"/>
          </a:p>
        </p:txBody>
      </p:sp>
      <p:sp>
        <p:nvSpPr>
          <p:cNvPr id="21" name="Text 19"/>
          <p:cNvSpPr/>
          <p:nvPr/>
        </p:nvSpPr>
        <p:spPr>
          <a:xfrm>
            <a:off x="7196328" y="2880360"/>
            <a:ext cx="146304" cy="365760"/>
          </a:xfrm>
          <a:prstGeom prst="rect">
            <a:avLst/>
          </a:prstGeom>
          <a:noFill/>
          <a:ln/>
        </p:spPr>
        <p:txBody>
          <a:bodyPr wrap="square" lIns="0" tIns="0" rIns="0" bIns="0" rtlCol="0" anchor="ctr"/>
          <a:lstStyle/>
          <a:p>
            <a:pPr algn="ctr" indent="0" marL="0">
              <a:buNone/>
            </a:pPr>
            <a:r>
              <a:rPr lang="en-US" sz="2000" dirty="0">
                <a:solidFill>
                  <a:srgbClr val="76B900"/>
                </a:solidFill>
                <a:latin typeface="Arial" pitchFamily="34" charset="0"/>
                <a:ea typeface="Arial" pitchFamily="34" charset="-122"/>
                <a:cs typeface="Arial" pitchFamily="34" charset="-120"/>
              </a:rPr>
              <a:t>›</a:t>
            </a:r>
            <a:endParaRPr lang="en-US" sz="2000" dirty="0"/>
          </a:p>
        </p:txBody>
      </p:sp>
      <p:sp>
        <p:nvSpPr>
          <p:cNvPr id="22" name="Shape 20"/>
          <p:cNvSpPr/>
          <p:nvPr/>
        </p:nvSpPr>
        <p:spPr>
          <a:xfrm>
            <a:off x="7333488" y="1965960"/>
            <a:ext cx="2084832" cy="2377440"/>
          </a:xfrm>
          <a:prstGeom prst="roundRect">
            <a:avLst>
              <a:gd name="adj" fmla="val 3947"/>
            </a:avLst>
          </a:prstGeom>
          <a:solidFill>
            <a:srgbClr val="202024"/>
          </a:solidFill>
          <a:ln w="12700">
            <a:solidFill>
              <a:srgbClr val="2A2A2A"/>
            </a:solidFill>
            <a:prstDash val="solid"/>
          </a:ln>
        </p:spPr>
      </p:sp>
      <p:sp>
        <p:nvSpPr>
          <p:cNvPr id="23" name="Shape 21"/>
          <p:cNvSpPr/>
          <p:nvPr/>
        </p:nvSpPr>
        <p:spPr>
          <a:xfrm>
            <a:off x="7607808" y="2240280"/>
            <a:ext cx="384048" cy="384048"/>
          </a:xfrm>
          <a:prstGeom prst="ellipse">
            <a:avLst/>
          </a:prstGeom>
          <a:solidFill>
            <a:srgbClr val="76B900"/>
          </a:solidFill>
          <a:ln w="12700">
            <a:solidFill>
              <a:srgbClr val="76B900"/>
            </a:solidFill>
            <a:prstDash val="solid"/>
          </a:ln>
        </p:spPr>
      </p:sp>
      <p:sp>
        <p:nvSpPr>
          <p:cNvPr id="24" name="Text 22"/>
          <p:cNvSpPr/>
          <p:nvPr/>
        </p:nvSpPr>
        <p:spPr>
          <a:xfrm>
            <a:off x="7607808" y="2240280"/>
            <a:ext cx="384048" cy="384048"/>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4</a:t>
            </a:r>
            <a:endParaRPr lang="en-US" sz="1400" dirty="0"/>
          </a:p>
        </p:txBody>
      </p:sp>
      <p:sp>
        <p:nvSpPr>
          <p:cNvPr id="25" name="Text 23"/>
          <p:cNvSpPr/>
          <p:nvPr/>
        </p:nvSpPr>
        <p:spPr>
          <a:xfrm>
            <a:off x="7607808" y="2788920"/>
            <a:ext cx="1536192" cy="365760"/>
          </a:xfrm>
          <a:prstGeom prst="rect">
            <a:avLst/>
          </a:prstGeom>
          <a:noFill/>
          <a:ln/>
        </p:spPr>
        <p:txBody>
          <a:bodyPr wrap="square" lIns="0" tIns="0" rIns="0" bIns="0" rtlCol="0" anchor="ctr"/>
          <a:lstStyle/>
          <a:p>
            <a:pPr indent="0" marL="0">
              <a:buNone/>
            </a:pPr>
            <a:r>
              <a:rPr lang="en-US" sz="1600" b="1" dirty="0">
                <a:solidFill>
                  <a:srgbClr val="76B900"/>
                </a:solidFill>
                <a:latin typeface="Arial" pitchFamily="34" charset="0"/>
                <a:ea typeface="Arial" pitchFamily="34" charset="-122"/>
                <a:cs typeface="Arial" pitchFamily="34" charset="-120"/>
              </a:rPr>
              <a:t>Affecter</a:t>
            </a:r>
            <a:endParaRPr lang="en-US" sz="1600" dirty="0"/>
          </a:p>
        </p:txBody>
      </p:sp>
      <p:sp>
        <p:nvSpPr>
          <p:cNvPr id="26" name="Text 24"/>
          <p:cNvSpPr/>
          <p:nvPr/>
        </p:nvSpPr>
        <p:spPr>
          <a:xfrm>
            <a:off x="7607808" y="3200400"/>
            <a:ext cx="1536192" cy="1005840"/>
          </a:xfrm>
          <a:prstGeom prst="rect">
            <a:avLst/>
          </a:prstGeom>
          <a:noFill/>
          <a:ln/>
        </p:spPr>
        <p:txBody>
          <a:bodyPr wrap="square" lIns="0" tIns="0" rIns="0" bIns="0" rtlCol="0" anchor="ctr"/>
          <a:lstStyle/>
          <a:p>
            <a:pPr indent="0" marL="0">
              <a:buNone/>
            </a:pPr>
            <a:r>
              <a:rPr lang="en-US" sz="1200" dirty="0">
                <a:solidFill>
                  <a:srgbClr val="9AA4AE"/>
                </a:solidFill>
                <a:latin typeface="Calibri" pitchFamily="34" charset="0"/>
                <a:ea typeface="Calibri" pitchFamily="34" charset="-122"/>
                <a:cs typeface="Calibri" pitchFamily="34" charset="-120"/>
              </a:rPr>
              <a:t>L'algorithme hongrois calcule l'affectation optimale globale.</a:t>
            </a:r>
            <a:endParaRPr lang="en-US" sz="1200" dirty="0"/>
          </a:p>
        </p:txBody>
      </p:sp>
      <p:sp>
        <p:nvSpPr>
          <p:cNvPr id="27" name="Text 25"/>
          <p:cNvSpPr/>
          <p:nvPr/>
        </p:nvSpPr>
        <p:spPr>
          <a:xfrm>
            <a:off x="9427464" y="2880360"/>
            <a:ext cx="146304" cy="365760"/>
          </a:xfrm>
          <a:prstGeom prst="rect">
            <a:avLst/>
          </a:prstGeom>
          <a:noFill/>
          <a:ln/>
        </p:spPr>
        <p:txBody>
          <a:bodyPr wrap="square" lIns="0" tIns="0" rIns="0" bIns="0" rtlCol="0" anchor="ctr"/>
          <a:lstStyle/>
          <a:p>
            <a:pPr algn="ctr" indent="0" marL="0">
              <a:buNone/>
            </a:pPr>
            <a:r>
              <a:rPr lang="en-US" sz="2000" dirty="0">
                <a:solidFill>
                  <a:srgbClr val="76B900"/>
                </a:solidFill>
                <a:latin typeface="Arial" pitchFamily="34" charset="0"/>
                <a:ea typeface="Arial" pitchFamily="34" charset="-122"/>
                <a:cs typeface="Arial" pitchFamily="34" charset="-120"/>
              </a:rPr>
              <a:t>›</a:t>
            </a:r>
            <a:endParaRPr lang="en-US" sz="2000" dirty="0"/>
          </a:p>
        </p:txBody>
      </p:sp>
      <p:sp>
        <p:nvSpPr>
          <p:cNvPr id="28" name="Shape 26"/>
          <p:cNvSpPr/>
          <p:nvPr/>
        </p:nvSpPr>
        <p:spPr>
          <a:xfrm>
            <a:off x="9564624" y="1965960"/>
            <a:ext cx="2084832" cy="2377440"/>
          </a:xfrm>
          <a:prstGeom prst="roundRect">
            <a:avLst>
              <a:gd name="adj" fmla="val 3947"/>
            </a:avLst>
          </a:prstGeom>
          <a:solidFill>
            <a:srgbClr val="18181A"/>
          </a:solidFill>
          <a:ln w="12700">
            <a:solidFill>
              <a:srgbClr val="2A2A2A"/>
            </a:solidFill>
            <a:prstDash val="solid"/>
          </a:ln>
        </p:spPr>
      </p:sp>
      <p:sp>
        <p:nvSpPr>
          <p:cNvPr id="29" name="Shape 27"/>
          <p:cNvSpPr/>
          <p:nvPr/>
        </p:nvSpPr>
        <p:spPr>
          <a:xfrm>
            <a:off x="9838944" y="2240280"/>
            <a:ext cx="384048" cy="384048"/>
          </a:xfrm>
          <a:prstGeom prst="ellipse">
            <a:avLst/>
          </a:prstGeom>
          <a:solidFill>
            <a:srgbClr val="76B900"/>
          </a:solidFill>
          <a:ln w="12700">
            <a:solidFill>
              <a:srgbClr val="76B900"/>
            </a:solidFill>
            <a:prstDash val="solid"/>
          </a:ln>
        </p:spPr>
      </p:sp>
      <p:sp>
        <p:nvSpPr>
          <p:cNvPr id="30" name="Text 28"/>
          <p:cNvSpPr/>
          <p:nvPr/>
        </p:nvSpPr>
        <p:spPr>
          <a:xfrm>
            <a:off x="9838944" y="2240280"/>
            <a:ext cx="384048" cy="384048"/>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5</a:t>
            </a:r>
            <a:endParaRPr lang="en-US" sz="1400" dirty="0"/>
          </a:p>
        </p:txBody>
      </p:sp>
      <p:sp>
        <p:nvSpPr>
          <p:cNvPr id="31" name="Text 29"/>
          <p:cNvSpPr/>
          <p:nvPr/>
        </p:nvSpPr>
        <p:spPr>
          <a:xfrm>
            <a:off x="9838944" y="2788920"/>
            <a:ext cx="1536192"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Réserver</a:t>
            </a:r>
            <a:endParaRPr lang="en-US" sz="1600" dirty="0"/>
          </a:p>
        </p:txBody>
      </p:sp>
      <p:sp>
        <p:nvSpPr>
          <p:cNvPr id="32" name="Text 30"/>
          <p:cNvSpPr/>
          <p:nvPr/>
        </p:nvSpPr>
        <p:spPr>
          <a:xfrm>
            <a:off x="9838944" y="3200400"/>
            <a:ext cx="1536192" cy="1005840"/>
          </a:xfrm>
          <a:prstGeom prst="rect">
            <a:avLst/>
          </a:prstGeom>
          <a:noFill/>
          <a:ln/>
        </p:spPr>
        <p:txBody>
          <a:bodyPr wrap="square" lIns="0" tIns="0" rIns="0" bIns="0" rtlCol="0" anchor="ctr"/>
          <a:lstStyle/>
          <a:p>
            <a:pPr indent="0" marL="0">
              <a:buNone/>
            </a:pPr>
            <a:r>
              <a:rPr lang="en-US" sz="1200" dirty="0">
                <a:solidFill>
                  <a:srgbClr val="9AA4AE"/>
                </a:solidFill>
                <a:latin typeface="Calibri" pitchFamily="34" charset="0"/>
                <a:ea typeface="Calibri" pitchFamily="34" charset="-122"/>
                <a:cs typeface="Calibri" pitchFamily="34" charset="-120"/>
              </a:rPr>
              <a:t>Le recruteur valide : la place est réservée sur la période.</a:t>
            </a:r>
            <a:endParaRPr lang="en-US" sz="1200" dirty="0"/>
          </a:p>
        </p:txBody>
      </p:sp>
      <p:sp>
        <p:nvSpPr>
          <p:cNvPr id="33" name="Text 31"/>
          <p:cNvSpPr/>
          <p:nvPr/>
        </p:nvSpPr>
        <p:spPr>
          <a:xfrm>
            <a:off x="640080" y="4709160"/>
            <a:ext cx="7772400" cy="731520"/>
          </a:xfrm>
          <a:prstGeom prst="rect">
            <a:avLst/>
          </a:prstGeom>
          <a:noFill/>
          <a:ln/>
        </p:spPr>
        <p:txBody>
          <a:bodyPr wrap="square" lIns="0" tIns="0" rIns="0" bIns="0" rtlCol="0" anchor="ctr"/>
          <a:lstStyle/>
          <a:p>
            <a:pPr indent="0" marL="0">
              <a:buNone/>
            </a:pPr>
            <a:r>
              <a:rPr lang="en-US" sz="1400" dirty="0">
                <a:solidFill>
                  <a:srgbClr val="9AA4AE"/>
                </a:solidFill>
                <a:latin typeface="Calibri" pitchFamily="34" charset="0"/>
                <a:ea typeface="Calibri" pitchFamily="34" charset="-122"/>
                <a:cs typeface="Calibri" pitchFamily="34" charset="-120"/>
              </a:rPr>
              <a:t>L'analyse du CV est asynchrone : le candidat reçoit sa confirmation immédiatement,</a:t>
            </a:r>
            <a:endParaRPr lang="en-US" sz="1400" dirty="0"/>
          </a:p>
          <a:p>
            <a:pPr indent="0" marL="0">
              <a:buNone/>
            </a:pPr>
            <a:r>
              <a:rPr lang="en-US" sz="1400" dirty="0">
                <a:solidFill>
                  <a:srgbClr val="9AA4AE"/>
                </a:solidFill>
                <a:latin typeface="Calibri" pitchFamily="34" charset="0"/>
                <a:ea typeface="Calibri" pitchFamily="34" charset="-122"/>
                <a:cs typeface="Calibri" pitchFamily="34" charset="-120"/>
              </a:rPr>
              <a:t>le traitement se poursuit en arrière-plan.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640080" y="411480"/>
            <a:ext cx="10908792" cy="68580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Technologies</a:t>
            </a:r>
            <a:endParaRPr lang="en-US" sz="3400" dirty="0"/>
          </a:p>
        </p:txBody>
      </p:sp>
      <p:sp>
        <p:nvSpPr>
          <p:cNvPr id="3" name="Text 1"/>
          <p:cNvSpPr/>
          <p:nvPr/>
        </p:nvSpPr>
        <p:spPr>
          <a:xfrm>
            <a:off x="640080" y="1078992"/>
            <a:ext cx="10908792" cy="384048"/>
          </a:xfrm>
          <a:prstGeom prst="rect">
            <a:avLst/>
          </a:prstGeom>
          <a:noFill/>
          <a:ln/>
        </p:spPr>
        <p:txBody>
          <a:bodyPr wrap="square" lIns="0" tIns="0" rIns="0" bIns="0" rtlCol="0" anchor="ctr"/>
          <a:lstStyle/>
          <a:p>
            <a:pPr indent="0" marL="0">
              <a:buNone/>
            </a:pPr>
            <a:r>
              <a:rPr lang="en-US" sz="1400" dirty="0">
                <a:solidFill>
                  <a:srgbClr val="9AA4AE"/>
                </a:solidFill>
                <a:latin typeface="Calibri" pitchFamily="34" charset="0"/>
                <a:ea typeface="Calibri" pitchFamily="34" charset="-122"/>
                <a:cs typeface="Calibri" pitchFamily="34" charset="-120"/>
              </a:rPr>
              <a:t>Une application entièrement sans serveur, déployée en continu</a:t>
            </a:r>
            <a:endParaRPr lang="en-US" sz="1400" dirty="0"/>
          </a:p>
        </p:txBody>
      </p:sp>
      <p:sp>
        <p:nvSpPr>
          <p:cNvPr id="4" name="Shape 2"/>
          <p:cNvSpPr/>
          <p:nvPr/>
        </p:nvSpPr>
        <p:spPr>
          <a:xfrm>
            <a:off x="640080" y="1828800"/>
            <a:ext cx="3520440" cy="1874520"/>
          </a:xfrm>
          <a:prstGeom prst="roundRect">
            <a:avLst>
              <a:gd name="adj" fmla="val 4390"/>
            </a:avLst>
          </a:prstGeom>
          <a:solidFill>
            <a:srgbClr val="18181A"/>
          </a:solidFill>
          <a:ln w="12700">
            <a:solidFill>
              <a:srgbClr val="2A2A2A"/>
            </a:solidFill>
            <a:prstDash val="solid"/>
          </a:ln>
        </p:spPr>
      </p:sp>
      <p:sp>
        <p:nvSpPr>
          <p:cNvPr id="5" name="Shape 3"/>
          <p:cNvSpPr/>
          <p:nvPr/>
        </p:nvSpPr>
        <p:spPr>
          <a:xfrm>
            <a:off x="960120" y="2121408"/>
            <a:ext cx="146304" cy="146304"/>
          </a:xfrm>
          <a:prstGeom prst="ellipse">
            <a:avLst/>
          </a:prstGeom>
          <a:solidFill>
            <a:srgbClr val="76B900"/>
          </a:solidFill>
          <a:ln w="12700">
            <a:solidFill>
              <a:srgbClr val="76B900"/>
            </a:solidFill>
            <a:prstDash val="solid"/>
          </a:ln>
        </p:spPr>
      </p:sp>
      <p:sp>
        <p:nvSpPr>
          <p:cNvPr id="6" name="Text 4"/>
          <p:cNvSpPr/>
          <p:nvPr/>
        </p:nvSpPr>
        <p:spPr>
          <a:xfrm>
            <a:off x="1207008" y="2029968"/>
            <a:ext cx="2743200"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Interface</a:t>
            </a:r>
            <a:endParaRPr lang="en-US" sz="1700" dirty="0"/>
          </a:p>
        </p:txBody>
      </p:sp>
      <p:sp>
        <p:nvSpPr>
          <p:cNvPr id="7" name="Text 5"/>
          <p:cNvSpPr/>
          <p:nvPr/>
        </p:nvSpPr>
        <p:spPr>
          <a:xfrm>
            <a:off x="960120" y="2514600"/>
            <a:ext cx="2926080" cy="1005840"/>
          </a:xfrm>
          <a:prstGeom prst="rect">
            <a:avLst/>
          </a:prstGeom>
          <a:noFill/>
          <a:ln/>
        </p:spPr>
        <p:txBody>
          <a:bodyPr wrap="square" lIns="0" tIns="0" rIns="0" bIns="0" rtlCol="0" anchor="ctr"/>
          <a:lstStyle/>
          <a:p>
            <a:pPr indent="0" marL="0">
              <a:lnSpc>
                <a:spcPts val="1700"/>
              </a:lnSpc>
              <a:buNone/>
            </a:pPr>
            <a:r>
              <a:rPr lang="en-US" sz="1250" dirty="0">
                <a:solidFill>
                  <a:srgbClr val="9AA4AE"/>
                </a:solidFill>
                <a:latin typeface="Calibri" pitchFamily="34" charset="0"/>
                <a:ea typeface="Calibri" pitchFamily="34" charset="-122"/>
                <a:cs typeface="Calibri" pitchFamily="34" charset="-120"/>
              </a:rPr>
              <a:t>React 18  ·  TypeScript  ·  Vite  ·  Ant Design 5</a:t>
            </a:r>
            <a:endParaRPr lang="en-US" sz="1250" dirty="0"/>
          </a:p>
          <a:p>
            <a:pPr indent="0" marL="0">
              <a:lnSpc>
                <a:spcPts val="1700"/>
              </a:lnSpc>
              <a:buNone/>
            </a:pPr>
            <a:r>
              <a:rPr lang="en-US" sz="1250" dirty="0">
                <a:solidFill>
                  <a:srgbClr val="9AA4AE"/>
                </a:solidFill>
                <a:latin typeface="Calibri" pitchFamily="34" charset="0"/>
                <a:ea typeface="Calibri" pitchFamily="34" charset="-122"/>
                <a:cs typeface="Calibri" pitchFamily="34" charset="-120"/>
              </a:rPr>
              <a:t>Redux Toolkit  ·  TanStack Query  ·  Recharts</a:t>
            </a:r>
            <a:endParaRPr lang="en-US" sz="1250" dirty="0"/>
          </a:p>
        </p:txBody>
      </p:sp>
      <p:sp>
        <p:nvSpPr>
          <p:cNvPr id="8" name="Shape 6"/>
          <p:cNvSpPr/>
          <p:nvPr/>
        </p:nvSpPr>
        <p:spPr>
          <a:xfrm>
            <a:off x="4434840" y="1828800"/>
            <a:ext cx="3520440" cy="1874520"/>
          </a:xfrm>
          <a:prstGeom prst="roundRect">
            <a:avLst>
              <a:gd name="adj" fmla="val 4390"/>
            </a:avLst>
          </a:prstGeom>
          <a:solidFill>
            <a:srgbClr val="18181A"/>
          </a:solidFill>
          <a:ln w="12700">
            <a:solidFill>
              <a:srgbClr val="2A2A2A"/>
            </a:solidFill>
            <a:prstDash val="solid"/>
          </a:ln>
        </p:spPr>
      </p:sp>
      <p:sp>
        <p:nvSpPr>
          <p:cNvPr id="9" name="Shape 7"/>
          <p:cNvSpPr/>
          <p:nvPr/>
        </p:nvSpPr>
        <p:spPr>
          <a:xfrm>
            <a:off x="4754880" y="2121408"/>
            <a:ext cx="146304" cy="146304"/>
          </a:xfrm>
          <a:prstGeom prst="ellipse">
            <a:avLst/>
          </a:prstGeom>
          <a:solidFill>
            <a:srgbClr val="76B900"/>
          </a:solidFill>
          <a:ln w="12700">
            <a:solidFill>
              <a:srgbClr val="76B900"/>
            </a:solidFill>
            <a:prstDash val="solid"/>
          </a:ln>
        </p:spPr>
      </p:sp>
      <p:sp>
        <p:nvSpPr>
          <p:cNvPr id="10" name="Text 8"/>
          <p:cNvSpPr/>
          <p:nvPr/>
        </p:nvSpPr>
        <p:spPr>
          <a:xfrm>
            <a:off x="5001768" y="2029968"/>
            <a:ext cx="2743200"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API</a:t>
            </a:r>
            <a:endParaRPr lang="en-US" sz="1700" dirty="0"/>
          </a:p>
        </p:txBody>
      </p:sp>
      <p:sp>
        <p:nvSpPr>
          <p:cNvPr id="11" name="Text 9"/>
          <p:cNvSpPr/>
          <p:nvPr/>
        </p:nvSpPr>
        <p:spPr>
          <a:xfrm>
            <a:off x="4754880" y="2514600"/>
            <a:ext cx="2926080" cy="1005840"/>
          </a:xfrm>
          <a:prstGeom prst="rect">
            <a:avLst/>
          </a:prstGeom>
          <a:noFill/>
          <a:ln/>
        </p:spPr>
        <p:txBody>
          <a:bodyPr wrap="square" lIns="0" tIns="0" rIns="0" bIns="0" rtlCol="0" anchor="ctr"/>
          <a:lstStyle/>
          <a:p>
            <a:pPr indent="0" marL="0">
              <a:lnSpc>
                <a:spcPts val="1700"/>
              </a:lnSpc>
              <a:buNone/>
            </a:pPr>
            <a:r>
              <a:rPr lang="en-US" sz="1250" dirty="0">
                <a:solidFill>
                  <a:srgbClr val="9AA4AE"/>
                </a:solidFill>
                <a:latin typeface="Calibri" pitchFamily="34" charset="0"/>
                <a:ea typeface="Calibri" pitchFamily="34" charset="-122"/>
                <a:cs typeface="Calibri" pitchFamily="34" charset="-120"/>
              </a:rPr>
              <a:t>Fonctions serverless TypeScript</a:t>
            </a:r>
            <a:endParaRPr lang="en-US" sz="1250" dirty="0"/>
          </a:p>
          <a:p>
            <a:pPr indent="0" marL="0">
              <a:lnSpc>
                <a:spcPts val="1700"/>
              </a:lnSpc>
              <a:buNone/>
            </a:pPr>
            <a:r>
              <a:rPr lang="en-US" sz="1250" dirty="0">
                <a:solidFill>
                  <a:srgbClr val="9AA4AE"/>
                </a:solidFill>
                <a:latin typeface="Calibri" pitchFamily="34" charset="0"/>
                <a:ea typeface="Calibri" pitchFamily="34" charset="-122"/>
                <a:cs typeface="Calibri" pitchFamily="34" charset="-120"/>
              </a:rPr>
              <a:t>Zod (validation)  ·  Vercel  ·  Netlify</a:t>
            </a:r>
            <a:endParaRPr lang="en-US" sz="1250" dirty="0"/>
          </a:p>
        </p:txBody>
      </p:sp>
      <p:sp>
        <p:nvSpPr>
          <p:cNvPr id="12" name="Shape 10"/>
          <p:cNvSpPr/>
          <p:nvPr/>
        </p:nvSpPr>
        <p:spPr>
          <a:xfrm>
            <a:off x="8229600" y="1828800"/>
            <a:ext cx="3520440" cy="1874520"/>
          </a:xfrm>
          <a:prstGeom prst="roundRect">
            <a:avLst>
              <a:gd name="adj" fmla="val 4390"/>
            </a:avLst>
          </a:prstGeom>
          <a:solidFill>
            <a:srgbClr val="18181A"/>
          </a:solidFill>
          <a:ln w="12700">
            <a:solidFill>
              <a:srgbClr val="2A2A2A"/>
            </a:solidFill>
            <a:prstDash val="solid"/>
          </a:ln>
        </p:spPr>
      </p:sp>
      <p:sp>
        <p:nvSpPr>
          <p:cNvPr id="13" name="Shape 11"/>
          <p:cNvSpPr/>
          <p:nvPr/>
        </p:nvSpPr>
        <p:spPr>
          <a:xfrm>
            <a:off x="8549640" y="2121408"/>
            <a:ext cx="146304" cy="146304"/>
          </a:xfrm>
          <a:prstGeom prst="ellipse">
            <a:avLst/>
          </a:prstGeom>
          <a:solidFill>
            <a:srgbClr val="76B900"/>
          </a:solidFill>
          <a:ln w="12700">
            <a:solidFill>
              <a:srgbClr val="76B900"/>
            </a:solidFill>
            <a:prstDash val="solid"/>
          </a:ln>
        </p:spPr>
      </p:sp>
      <p:sp>
        <p:nvSpPr>
          <p:cNvPr id="14" name="Text 12"/>
          <p:cNvSpPr/>
          <p:nvPr/>
        </p:nvSpPr>
        <p:spPr>
          <a:xfrm>
            <a:off x="8796528" y="2029968"/>
            <a:ext cx="2743200"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Données</a:t>
            </a:r>
            <a:endParaRPr lang="en-US" sz="1700" dirty="0"/>
          </a:p>
        </p:txBody>
      </p:sp>
      <p:sp>
        <p:nvSpPr>
          <p:cNvPr id="15" name="Text 13"/>
          <p:cNvSpPr/>
          <p:nvPr/>
        </p:nvSpPr>
        <p:spPr>
          <a:xfrm>
            <a:off x="8549640" y="2514600"/>
            <a:ext cx="2926080" cy="1005840"/>
          </a:xfrm>
          <a:prstGeom prst="rect">
            <a:avLst/>
          </a:prstGeom>
          <a:noFill/>
          <a:ln/>
        </p:spPr>
        <p:txBody>
          <a:bodyPr wrap="square" lIns="0" tIns="0" rIns="0" bIns="0" rtlCol="0" anchor="ctr"/>
          <a:lstStyle/>
          <a:p>
            <a:pPr indent="0" marL="0">
              <a:lnSpc>
                <a:spcPts val="1700"/>
              </a:lnSpc>
              <a:buNone/>
            </a:pPr>
            <a:r>
              <a:rPr lang="en-US" sz="1250" dirty="0">
                <a:solidFill>
                  <a:srgbClr val="9AA4AE"/>
                </a:solidFill>
                <a:latin typeface="Calibri" pitchFamily="34" charset="0"/>
                <a:ea typeface="Calibri" pitchFamily="34" charset="-122"/>
                <a:cs typeface="Calibri" pitchFamily="34" charset="-120"/>
              </a:rPr>
              <a:t>PostgreSQL (Supabase)  ·  RLS activée</a:t>
            </a:r>
            <a:endParaRPr lang="en-US" sz="1250" dirty="0"/>
          </a:p>
          <a:p>
            <a:pPr indent="0" marL="0">
              <a:lnSpc>
                <a:spcPts val="1700"/>
              </a:lnSpc>
              <a:buNone/>
            </a:pPr>
            <a:r>
              <a:rPr lang="en-US" sz="1250" dirty="0">
                <a:solidFill>
                  <a:srgbClr val="9AA4AE"/>
                </a:solidFill>
                <a:latin typeface="Calibri" pitchFamily="34" charset="0"/>
                <a:ea typeface="Calibri" pitchFamily="34" charset="-122"/>
                <a:cs typeface="Calibri" pitchFamily="34" charset="-120"/>
              </a:rPr>
              <a:t>Supabase Auth (JWT)  ·  Supabase Storage</a:t>
            </a:r>
            <a:endParaRPr lang="en-US" sz="1250" dirty="0"/>
          </a:p>
        </p:txBody>
      </p:sp>
      <p:sp>
        <p:nvSpPr>
          <p:cNvPr id="16" name="Shape 14"/>
          <p:cNvSpPr/>
          <p:nvPr/>
        </p:nvSpPr>
        <p:spPr>
          <a:xfrm>
            <a:off x="640080" y="3977640"/>
            <a:ext cx="3520440" cy="1874520"/>
          </a:xfrm>
          <a:prstGeom prst="roundRect">
            <a:avLst>
              <a:gd name="adj" fmla="val 4390"/>
            </a:avLst>
          </a:prstGeom>
          <a:solidFill>
            <a:srgbClr val="18181A"/>
          </a:solidFill>
          <a:ln w="12700">
            <a:solidFill>
              <a:srgbClr val="2A2A2A"/>
            </a:solidFill>
            <a:prstDash val="solid"/>
          </a:ln>
        </p:spPr>
      </p:sp>
      <p:sp>
        <p:nvSpPr>
          <p:cNvPr id="17" name="Shape 15"/>
          <p:cNvSpPr/>
          <p:nvPr/>
        </p:nvSpPr>
        <p:spPr>
          <a:xfrm>
            <a:off x="960120" y="4270248"/>
            <a:ext cx="146304" cy="146304"/>
          </a:xfrm>
          <a:prstGeom prst="ellipse">
            <a:avLst/>
          </a:prstGeom>
          <a:solidFill>
            <a:srgbClr val="76B900"/>
          </a:solidFill>
          <a:ln w="12700">
            <a:solidFill>
              <a:srgbClr val="76B900"/>
            </a:solidFill>
            <a:prstDash val="solid"/>
          </a:ln>
        </p:spPr>
      </p:sp>
      <p:sp>
        <p:nvSpPr>
          <p:cNvPr id="18" name="Text 16"/>
          <p:cNvSpPr/>
          <p:nvPr/>
        </p:nvSpPr>
        <p:spPr>
          <a:xfrm>
            <a:off x="1207008" y="4178808"/>
            <a:ext cx="2743200"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Intelligence</a:t>
            </a:r>
            <a:endParaRPr lang="en-US" sz="1700" dirty="0"/>
          </a:p>
        </p:txBody>
      </p:sp>
      <p:sp>
        <p:nvSpPr>
          <p:cNvPr id="19" name="Text 17"/>
          <p:cNvSpPr/>
          <p:nvPr/>
        </p:nvSpPr>
        <p:spPr>
          <a:xfrm>
            <a:off x="960120" y="4663440"/>
            <a:ext cx="2926080" cy="1005840"/>
          </a:xfrm>
          <a:prstGeom prst="rect">
            <a:avLst/>
          </a:prstGeom>
          <a:noFill/>
          <a:ln/>
        </p:spPr>
        <p:txBody>
          <a:bodyPr wrap="square" lIns="0" tIns="0" rIns="0" bIns="0" rtlCol="0" anchor="ctr"/>
          <a:lstStyle/>
          <a:p>
            <a:pPr indent="0" marL="0">
              <a:lnSpc>
                <a:spcPts val="1700"/>
              </a:lnSpc>
              <a:buNone/>
            </a:pPr>
            <a:r>
              <a:rPr lang="en-US" sz="1250" dirty="0">
                <a:solidFill>
                  <a:srgbClr val="9AA4AE"/>
                </a:solidFill>
                <a:latin typeface="Calibri" pitchFamily="34" charset="0"/>
                <a:ea typeface="Calibri" pitchFamily="34" charset="-122"/>
                <a:cs typeface="Calibri" pitchFamily="34" charset="-120"/>
              </a:rPr>
              <a:t>Groq — gpt-oss (extraction, agent)</a:t>
            </a:r>
            <a:endParaRPr lang="en-US" sz="1250" dirty="0"/>
          </a:p>
          <a:p>
            <a:pPr indent="0" marL="0">
              <a:lnSpc>
                <a:spcPts val="1700"/>
              </a:lnSpc>
              <a:buNone/>
            </a:pPr>
            <a:r>
              <a:rPr lang="en-US" sz="1250" dirty="0">
                <a:solidFill>
                  <a:srgbClr val="9AA4AE"/>
                </a:solidFill>
                <a:latin typeface="Calibri" pitchFamily="34" charset="0"/>
                <a:ea typeface="Calibri" pitchFamily="34" charset="-122"/>
                <a:cs typeface="Calibri" pitchFamily="34" charset="-120"/>
              </a:rPr>
              <a:t>XGBoost  ·  Algorithme hongrois  ·  Recherche plein-texte</a:t>
            </a:r>
            <a:endParaRPr lang="en-US" sz="1250" dirty="0"/>
          </a:p>
        </p:txBody>
      </p:sp>
      <p:sp>
        <p:nvSpPr>
          <p:cNvPr id="20" name="Shape 18"/>
          <p:cNvSpPr/>
          <p:nvPr/>
        </p:nvSpPr>
        <p:spPr>
          <a:xfrm>
            <a:off x="4434840" y="3977640"/>
            <a:ext cx="3520440" cy="1874520"/>
          </a:xfrm>
          <a:prstGeom prst="roundRect">
            <a:avLst>
              <a:gd name="adj" fmla="val 4390"/>
            </a:avLst>
          </a:prstGeom>
          <a:solidFill>
            <a:srgbClr val="18181A"/>
          </a:solidFill>
          <a:ln w="12700">
            <a:solidFill>
              <a:srgbClr val="2A2A2A"/>
            </a:solidFill>
            <a:prstDash val="solid"/>
          </a:ln>
        </p:spPr>
      </p:sp>
      <p:sp>
        <p:nvSpPr>
          <p:cNvPr id="21" name="Shape 19"/>
          <p:cNvSpPr/>
          <p:nvPr/>
        </p:nvSpPr>
        <p:spPr>
          <a:xfrm>
            <a:off x="4754880" y="4270248"/>
            <a:ext cx="146304" cy="146304"/>
          </a:xfrm>
          <a:prstGeom prst="ellipse">
            <a:avLst/>
          </a:prstGeom>
          <a:solidFill>
            <a:srgbClr val="76B900"/>
          </a:solidFill>
          <a:ln w="12700">
            <a:solidFill>
              <a:srgbClr val="76B900"/>
            </a:solidFill>
            <a:prstDash val="solid"/>
          </a:ln>
        </p:spPr>
      </p:sp>
      <p:sp>
        <p:nvSpPr>
          <p:cNvPr id="22" name="Text 20"/>
          <p:cNvSpPr/>
          <p:nvPr/>
        </p:nvSpPr>
        <p:spPr>
          <a:xfrm>
            <a:off x="5001768" y="4178808"/>
            <a:ext cx="2743200"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Qualité</a:t>
            </a:r>
            <a:endParaRPr lang="en-US" sz="1700" dirty="0"/>
          </a:p>
        </p:txBody>
      </p:sp>
      <p:sp>
        <p:nvSpPr>
          <p:cNvPr id="23" name="Text 21"/>
          <p:cNvSpPr/>
          <p:nvPr/>
        </p:nvSpPr>
        <p:spPr>
          <a:xfrm>
            <a:off x="4754880" y="4663440"/>
            <a:ext cx="2926080" cy="1005840"/>
          </a:xfrm>
          <a:prstGeom prst="rect">
            <a:avLst/>
          </a:prstGeom>
          <a:noFill/>
          <a:ln/>
        </p:spPr>
        <p:txBody>
          <a:bodyPr wrap="square" lIns="0" tIns="0" rIns="0" bIns="0" rtlCol="0" anchor="ctr"/>
          <a:lstStyle/>
          <a:p>
            <a:pPr indent="0" marL="0">
              <a:lnSpc>
                <a:spcPts val="1700"/>
              </a:lnSpc>
              <a:buNone/>
            </a:pPr>
            <a:r>
              <a:rPr lang="en-US" sz="1250" dirty="0">
                <a:solidFill>
                  <a:srgbClr val="9AA4AE"/>
                </a:solidFill>
                <a:latin typeface="Calibri" pitchFamily="34" charset="0"/>
                <a:ea typeface="Calibri" pitchFamily="34" charset="-122"/>
                <a:cs typeface="Calibri" pitchFamily="34" charset="-120"/>
              </a:rPr>
              <a:t>Vitest  ·  pytest  ·  ESLint  ·  ruff / black</a:t>
            </a:r>
            <a:endParaRPr lang="en-US" sz="1250" dirty="0"/>
          </a:p>
          <a:p>
            <a:pPr indent="0" marL="0">
              <a:lnSpc>
                <a:spcPts val="1700"/>
              </a:lnSpc>
              <a:buNone/>
            </a:pPr>
            <a:r>
              <a:rPr lang="en-US" sz="1250" dirty="0">
                <a:solidFill>
                  <a:srgbClr val="9AA4AE"/>
                </a:solidFill>
                <a:latin typeface="Calibri" pitchFamily="34" charset="0"/>
                <a:ea typeface="Calibri" pitchFamily="34" charset="-122"/>
                <a:cs typeface="Calibri" pitchFamily="34" charset="-120"/>
              </a:rPr>
              <a:t>GitHub Actions (3 chaînes)</a:t>
            </a:r>
            <a:endParaRPr lang="en-US" sz="1250" dirty="0"/>
          </a:p>
        </p:txBody>
      </p:sp>
      <p:sp>
        <p:nvSpPr>
          <p:cNvPr id="24" name="Shape 22"/>
          <p:cNvSpPr/>
          <p:nvPr/>
        </p:nvSpPr>
        <p:spPr>
          <a:xfrm>
            <a:off x="8229600" y="3977640"/>
            <a:ext cx="3520440" cy="1874520"/>
          </a:xfrm>
          <a:prstGeom prst="roundRect">
            <a:avLst>
              <a:gd name="adj" fmla="val 4390"/>
            </a:avLst>
          </a:prstGeom>
          <a:solidFill>
            <a:srgbClr val="18181A"/>
          </a:solidFill>
          <a:ln w="12700">
            <a:solidFill>
              <a:srgbClr val="2A2A2A"/>
            </a:solidFill>
            <a:prstDash val="solid"/>
          </a:ln>
        </p:spPr>
      </p:sp>
      <p:sp>
        <p:nvSpPr>
          <p:cNvPr id="25" name="Shape 23"/>
          <p:cNvSpPr/>
          <p:nvPr/>
        </p:nvSpPr>
        <p:spPr>
          <a:xfrm>
            <a:off x="8549640" y="4270248"/>
            <a:ext cx="146304" cy="146304"/>
          </a:xfrm>
          <a:prstGeom prst="ellipse">
            <a:avLst/>
          </a:prstGeom>
          <a:solidFill>
            <a:srgbClr val="76B900"/>
          </a:solidFill>
          <a:ln w="12700">
            <a:solidFill>
              <a:srgbClr val="76B900"/>
            </a:solidFill>
            <a:prstDash val="solid"/>
          </a:ln>
        </p:spPr>
      </p:sp>
      <p:sp>
        <p:nvSpPr>
          <p:cNvPr id="26" name="Text 24"/>
          <p:cNvSpPr/>
          <p:nvPr/>
        </p:nvSpPr>
        <p:spPr>
          <a:xfrm>
            <a:off x="8796528" y="4178808"/>
            <a:ext cx="2743200"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Socle alternatif</a:t>
            </a:r>
            <a:endParaRPr lang="en-US" sz="1700" dirty="0"/>
          </a:p>
        </p:txBody>
      </p:sp>
      <p:sp>
        <p:nvSpPr>
          <p:cNvPr id="27" name="Text 25"/>
          <p:cNvSpPr/>
          <p:nvPr/>
        </p:nvSpPr>
        <p:spPr>
          <a:xfrm>
            <a:off x="8549640" y="4663440"/>
            <a:ext cx="2926080" cy="1005840"/>
          </a:xfrm>
          <a:prstGeom prst="rect">
            <a:avLst/>
          </a:prstGeom>
          <a:noFill/>
          <a:ln/>
        </p:spPr>
        <p:txBody>
          <a:bodyPr wrap="square" lIns="0" tIns="0" rIns="0" bIns="0" rtlCol="0" anchor="ctr"/>
          <a:lstStyle/>
          <a:p>
            <a:pPr indent="0" marL="0">
              <a:lnSpc>
                <a:spcPts val="1700"/>
              </a:lnSpc>
              <a:buNone/>
            </a:pPr>
            <a:r>
              <a:rPr lang="en-US" sz="1250" dirty="0">
                <a:solidFill>
                  <a:srgbClr val="9AA4AE"/>
                </a:solidFill>
                <a:latin typeface="Calibri" pitchFamily="34" charset="0"/>
                <a:ea typeface="Calibri" pitchFamily="34" charset="-122"/>
                <a:cs typeface="Calibri" pitchFamily="34" charset="-120"/>
              </a:rPr>
              <a:t>FastAPI  ·  SQLAlchemy  ·  Celery  ·  Redis</a:t>
            </a:r>
            <a:endParaRPr lang="en-US" sz="1250" dirty="0"/>
          </a:p>
          <a:p>
            <a:pPr indent="0" marL="0">
              <a:lnSpc>
                <a:spcPts val="1700"/>
              </a:lnSpc>
              <a:buNone/>
            </a:pPr>
            <a:r>
              <a:rPr lang="en-US" sz="1250" dirty="0">
                <a:solidFill>
                  <a:srgbClr val="9AA4AE"/>
                </a:solidFill>
                <a:latin typeface="Calibri" pitchFamily="34" charset="0"/>
                <a:ea typeface="Calibri" pitchFamily="34" charset="-122"/>
                <a:cs typeface="Calibri" pitchFamily="34" charset="-120"/>
              </a:rPr>
              <a:t>pgvector  ·  spaCy  ·  Docker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640080" y="411480"/>
            <a:ext cx="10908792" cy="68580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Architecture</a:t>
            </a:r>
            <a:endParaRPr lang="en-US" sz="3400" dirty="0"/>
          </a:p>
        </p:txBody>
      </p:sp>
      <p:sp>
        <p:nvSpPr>
          <p:cNvPr id="3" name="Text 1"/>
          <p:cNvSpPr/>
          <p:nvPr/>
        </p:nvSpPr>
        <p:spPr>
          <a:xfrm>
            <a:off x="640080" y="1078992"/>
            <a:ext cx="10908792" cy="384048"/>
          </a:xfrm>
          <a:prstGeom prst="rect">
            <a:avLst/>
          </a:prstGeom>
          <a:noFill/>
          <a:ln/>
        </p:spPr>
        <p:txBody>
          <a:bodyPr wrap="square" lIns="0" tIns="0" rIns="0" bIns="0" rtlCol="0" anchor="ctr"/>
          <a:lstStyle/>
          <a:p>
            <a:pPr indent="0" marL="0">
              <a:buNone/>
            </a:pPr>
            <a:r>
              <a:rPr lang="en-US" sz="1400" dirty="0">
                <a:solidFill>
                  <a:srgbClr val="9AA4AE"/>
                </a:solidFill>
                <a:latin typeface="Calibri" pitchFamily="34" charset="0"/>
                <a:ea typeface="Calibri" pitchFamily="34" charset="-122"/>
                <a:cs typeface="Calibri" pitchFamily="34" charset="-120"/>
              </a:rPr>
              <a:t>Trois couches, aucun serveur à administrer</a:t>
            </a:r>
            <a:endParaRPr lang="en-US" sz="1400" dirty="0"/>
          </a:p>
        </p:txBody>
      </p:sp>
      <p:sp>
        <p:nvSpPr>
          <p:cNvPr id="4" name="Shape 2"/>
          <p:cNvSpPr/>
          <p:nvPr/>
        </p:nvSpPr>
        <p:spPr>
          <a:xfrm>
            <a:off x="640080" y="1920240"/>
            <a:ext cx="3200400" cy="2103120"/>
          </a:xfrm>
          <a:prstGeom prst="roundRect">
            <a:avLst>
              <a:gd name="adj" fmla="val 3913"/>
            </a:avLst>
          </a:prstGeom>
          <a:solidFill>
            <a:srgbClr val="18181A"/>
          </a:solidFill>
          <a:ln w="12700">
            <a:solidFill>
              <a:srgbClr val="2A2A2A"/>
            </a:solidFill>
            <a:prstDash val="solid"/>
          </a:ln>
        </p:spPr>
      </p:sp>
      <p:sp>
        <p:nvSpPr>
          <p:cNvPr id="5" name="Text 3"/>
          <p:cNvSpPr/>
          <p:nvPr/>
        </p:nvSpPr>
        <p:spPr>
          <a:xfrm>
            <a:off x="868680" y="2121408"/>
            <a:ext cx="274320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Navigateur</a:t>
            </a:r>
            <a:endParaRPr lang="en-US" sz="1500" dirty="0"/>
          </a:p>
        </p:txBody>
      </p:sp>
      <p:sp>
        <p:nvSpPr>
          <p:cNvPr id="6" name="Text 4"/>
          <p:cNvSpPr/>
          <p:nvPr/>
        </p:nvSpPr>
        <p:spPr>
          <a:xfrm>
            <a:off x="868680" y="2487168"/>
            <a:ext cx="2743200" cy="1325880"/>
          </a:xfrm>
          <a:prstGeom prst="rect">
            <a:avLst/>
          </a:prstGeom>
          <a:noFill/>
          <a:ln/>
        </p:spPr>
        <p:txBody>
          <a:bodyPr wrap="square" lIns="0" tIns="0" rIns="0" bIns="0" rtlCol="0" anchor="ctr"/>
          <a:lstStyle/>
          <a:p>
            <a:pPr indent="0" marL="0">
              <a:lnSpc>
                <a:spcPts val="1600"/>
              </a:lnSpc>
              <a:buNone/>
            </a:pPr>
            <a:r>
              <a:rPr lang="en-US" sz="1200" dirty="0">
                <a:solidFill>
                  <a:srgbClr val="9AA4AE"/>
                </a:solidFill>
                <a:latin typeface="Calibri" pitchFamily="34" charset="0"/>
                <a:ea typeface="Calibri" pitchFamily="34" charset="-122"/>
                <a:cs typeface="Calibri" pitchFamily="34" charset="-120"/>
              </a:rPr>
              <a:t>Application React</a:t>
            </a:r>
            <a:endParaRPr lang="en-US" sz="1200" dirty="0"/>
          </a:p>
          <a:p>
            <a:pPr indent="0" marL="0">
              <a:lnSpc>
                <a:spcPts val="1600"/>
              </a:lnSpc>
              <a:buNone/>
            </a:pPr>
            <a:r>
              <a:rPr lang="en-US" sz="1200" dirty="0">
                <a:solidFill>
                  <a:srgbClr val="9AA4AE"/>
                </a:solidFill>
                <a:latin typeface="Calibri" pitchFamily="34" charset="0"/>
                <a:ea typeface="Calibri" pitchFamily="34" charset="-122"/>
                <a:cs typeface="Calibri" pitchFamily="34" charset="-120"/>
              </a:rPr>
              <a:t>Authentification Supabase</a:t>
            </a:r>
            <a:endParaRPr lang="en-US" sz="1200" dirty="0"/>
          </a:p>
          <a:p>
            <a:pPr indent="0" marL="0">
              <a:lnSpc>
                <a:spcPts val="1600"/>
              </a:lnSpc>
              <a:buNone/>
            </a:pPr>
            <a:r>
              <a:rPr lang="en-US" sz="1200" dirty="0">
                <a:solidFill>
                  <a:srgbClr val="9AA4AE"/>
                </a:solidFill>
                <a:latin typeface="Calibri" pitchFamily="34" charset="0"/>
                <a:ea typeface="Calibri" pitchFamily="34" charset="-122"/>
                <a:cs typeface="Calibri" pitchFamily="34" charset="-120"/>
              </a:rPr>
              <a:t>Téléversement direct du CV</a:t>
            </a:r>
            <a:endParaRPr lang="en-US" sz="1200" dirty="0"/>
          </a:p>
        </p:txBody>
      </p:sp>
      <p:sp>
        <p:nvSpPr>
          <p:cNvPr id="7" name="Shape 5"/>
          <p:cNvSpPr/>
          <p:nvPr/>
        </p:nvSpPr>
        <p:spPr>
          <a:xfrm>
            <a:off x="4343400" y="1920240"/>
            <a:ext cx="3200400" cy="2103120"/>
          </a:xfrm>
          <a:prstGeom prst="roundRect">
            <a:avLst>
              <a:gd name="adj" fmla="val 3913"/>
            </a:avLst>
          </a:prstGeom>
          <a:solidFill>
            <a:srgbClr val="202024"/>
          </a:solidFill>
          <a:ln w="12700">
            <a:solidFill>
              <a:srgbClr val="2A2A2A"/>
            </a:solidFill>
            <a:prstDash val="solid"/>
          </a:ln>
        </p:spPr>
      </p:sp>
      <p:sp>
        <p:nvSpPr>
          <p:cNvPr id="8" name="Text 6"/>
          <p:cNvSpPr/>
          <p:nvPr/>
        </p:nvSpPr>
        <p:spPr>
          <a:xfrm>
            <a:off x="4572000" y="2121408"/>
            <a:ext cx="2743200" cy="320040"/>
          </a:xfrm>
          <a:prstGeom prst="rect">
            <a:avLst/>
          </a:prstGeom>
          <a:noFill/>
          <a:ln/>
        </p:spPr>
        <p:txBody>
          <a:bodyPr wrap="square" lIns="0" tIns="0" rIns="0" bIns="0" rtlCol="0" anchor="ctr"/>
          <a:lstStyle/>
          <a:p>
            <a:pPr indent="0" marL="0">
              <a:buNone/>
            </a:pPr>
            <a:r>
              <a:rPr lang="en-US" sz="1500" b="1" dirty="0">
                <a:solidFill>
                  <a:srgbClr val="76B900"/>
                </a:solidFill>
                <a:latin typeface="Arial" pitchFamily="34" charset="0"/>
                <a:ea typeface="Arial" pitchFamily="34" charset="-122"/>
                <a:cs typeface="Arial" pitchFamily="34" charset="-120"/>
              </a:rPr>
              <a:t>Fonction serverless</a:t>
            </a:r>
            <a:endParaRPr lang="en-US" sz="1500" dirty="0"/>
          </a:p>
        </p:txBody>
      </p:sp>
      <p:sp>
        <p:nvSpPr>
          <p:cNvPr id="9" name="Text 7"/>
          <p:cNvSpPr/>
          <p:nvPr/>
        </p:nvSpPr>
        <p:spPr>
          <a:xfrm>
            <a:off x="4572000" y="2487168"/>
            <a:ext cx="2743200" cy="1325880"/>
          </a:xfrm>
          <a:prstGeom prst="rect">
            <a:avLst/>
          </a:prstGeom>
          <a:noFill/>
          <a:ln/>
        </p:spPr>
        <p:txBody>
          <a:bodyPr wrap="square" lIns="0" tIns="0" rIns="0" bIns="0" rtlCol="0" anchor="ctr"/>
          <a:lstStyle/>
          <a:p>
            <a:pPr indent="0" marL="0">
              <a:lnSpc>
                <a:spcPts val="1600"/>
              </a:lnSpc>
              <a:buNone/>
            </a:pPr>
            <a:r>
              <a:rPr lang="en-US" sz="1200" dirty="0">
                <a:solidFill>
                  <a:srgbClr val="9AA4AE"/>
                </a:solidFill>
                <a:latin typeface="Calibri" pitchFamily="34" charset="0"/>
                <a:ea typeface="Calibri" pitchFamily="34" charset="-122"/>
                <a:cs typeface="Calibri" pitchFamily="34" charset="-120"/>
              </a:rPr>
              <a:t>19 endpoints /api/*</a:t>
            </a:r>
            <a:endParaRPr lang="en-US" sz="1200" dirty="0"/>
          </a:p>
          <a:p>
            <a:pPr indent="0" marL="0">
              <a:lnSpc>
                <a:spcPts val="1600"/>
              </a:lnSpc>
              <a:buNone/>
            </a:pPr>
            <a:r>
              <a:rPr lang="en-US" sz="1200" dirty="0">
                <a:solidFill>
                  <a:srgbClr val="9AA4AE"/>
                </a:solidFill>
                <a:latin typeface="Calibri" pitchFamily="34" charset="0"/>
                <a:ea typeface="Calibri" pitchFamily="34" charset="-122"/>
                <a:cs typeface="Calibri" pitchFamily="34" charset="-120"/>
              </a:rPr>
              <a:t>Noyau partagé testable</a:t>
            </a:r>
            <a:endParaRPr lang="en-US" sz="1200" dirty="0"/>
          </a:p>
          <a:p>
            <a:pPr indent="0" marL="0">
              <a:lnSpc>
                <a:spcPts val="1600"/>
              </a:lnSpc>
              <a:buNone/>
            </a:pPr>
            <a:r>
              <a:rPr lang="en-US" sz="1200" dirty="0">
                <a:solidFill>
                  <a:srgbClr val="9AA4AE"/>
                </a:solidFill>
                <a:latin typeface="Calibri" pitchFamily="34" charset="0"/>
                <a:ea typeface="Calibri" pitchFamily="34" charset="-122"/>
                <a:cs typeface="Calibri" pitchFamily="34" charset="-120"/>
              </a:rPr>
              <a:t>Durée max. 60 s</a:t>
            </a:r>
            <a:endParaRPr lang="en-US" sz="1200" dirty="0"/>
          </a:p>
        </p:txBody>
      </p:sp>
      <p:sp>
        <p:nvSpPr>
          <p:cNvPr id="10" name="Shape 8"/>
          <p:cNvSpPr/>
          <p:nvPr/>
        </p:nvSpPr>
        <p:spPr>
          <a:xfrm>
            <a:off x="8046720" y="1920240"/>
            <a:ext cx="3136392" cy="2103120"/>
          </a:xfrm>
          <a:prstGeom prst="roundRect">
            <a:avLst>
              <a:gd name="adj" fmla="val 3913"/>
            </a:avLst>
          </a:prstGeom>
          <a:solidFill>
            <a:srgbClr val="18181A"/>
          </a:solidFill>
          <a:ln w="12700">
            <a:solidFill>
              <a:srgbClr val="2A2A2A"/>
            </a:solidFill>
            <a:prstDash val="solid"/>
          </a:ln>
        </p:spPr>
      </p:sp>
      <p:sp>
        <p:nvSpPr>
          <p:cNvPr id="11" name="Text 9"/>
          <p:cNvSpPr/>
          <p:nvPr/>
        </p:nvSpPr>
        <p:spPr>
          <a:xfrm>
            <a:off x="8275320" y="2121408"/>
            <a:ext cx="2679192"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Services managés</a:t>
            </a:r>
            <a:endParaRPr lang="en-US" sz="1500" dirty="0"/>
          </a:p>
        </p:txBody>
      </p:sp>
      <p:sp>
        <p:nvSpPr>
          <p:cNvPr id="12" name="Text 10"/>
          <p:cNvSpPr/>
          <p:nvPr/>
        </p:nvSpPr>
        <p:spPr>
          <a:xfrm>
            <a:off x="8275320" y="2487168"/>
            <a:ext cx="2679192" cy="1325880"/>
          </a:xfrm>
          <a:prstGeom prst="rect">
            <a:avLst/>
          </a:prstGeom>
          <a:noFill/>
          <a:ln/>
        </p:spPr>
        <p:txBody>
          <a:bodyPr wrap="square" lIns="0" tIns="0" rIns="0" bIns="0" rtlCol="0" anchor="ctr"/>
          <a:lstStyle/>
          <a:p>
            <a:pPr indent="0" marL="0">
              <a:lnSpc>
                <a:spcPts val="1600"/>
              </a:lnSpc>
              <a:buNone/>
            </a:pPr>
            <a:r>
              <a:rPr lang="en-US" sz="1200" dirty="0">
                <a:solidFill>
                  <a:srgbClr val="9AA4AE"/>
                </a:solidFill>
                <a:latin typeface="Calibri" pitchFamily="34" charset="0"/>
                <a:ea typeface="Calibri" pitchFamily="34" charset="-122"/>
                <a:cs typeface="Calibri" pitchFamily="34" charset="-120"/>
              </a:rPr>
              <a:t>PostgreSQL + Storage</a:t>
            </a:r>
            <a:endParaRPr lang="en-US" sz="1200" dirty="0"/>
          </a:p>
          <a:p>
            <a:pPr indent="0" marL="0">
              <a:lnSpc>
                <a:spcPts val="1600"/>
              </a:lnSpc>
              <a:buNone/>
            </a:pPr>
            <a:r>
              <a:rPr lang="en-US" sz="1200" dirty="0">
                <a:solidFill>
                  <a:srgbClr val="9AA4AE"/>
                </a:solidFill>
                <a:latin typeface="Calibri" pitchFamily="34" charset="0"/>
                <a:ea typeface="Calibri" pitchFamily="34" charset="-122"/>
                <a:cs typeface="Calibri" pitchFamily="34" charset="-120"/>
              </a:rPr>
              <a:t>Authentification</a:t>
            </a:r>
            <a:endParaRPr lang="en-US" sz="1200" dirty="0"/>
          </a:p>
          <a:p>
            <a:pPr indent="0" marL="0">
              <a:lnSpc>
                <a:spcPts val="1600"/>
              </a:lnSpc>
              <a:buNone/>
            </a:pPr>
            <a:r>
              <a:rPr lang="en-US" sz="1200" dirty="0">
                <a:solidFill>
                  <a:srgbClr val="9AA4AE"/>
                </a:solidFill>
                <a:latin typeface="Calibri" pitchFamily="34" charset="0"/>
                <a:ea typeface="Calibri" pitchFamily="34" charset="-122"/>
                <a:cs typeface="Calibri" pitchFamily="34" charset="-120"/>
              </a:rPr>
              <a:t>Groq (LLM)</a:t>
            </a:r>
            <a:endParaRPr lang="en-US" sz="1200" dirty="0"/>
          </a:p>
        </p:txBody>
      </p:sp>
      <p:sp>
        <p:nvSpPr>
          <p:cNvPr id="13" name="Shape 11"/>
          <p:cNvSpPr/>
          <p:nvPr/>
        </p:nvSpPr>
        <p:spPr>
          <a:xfrm>
            <a:off x="3977640" y="2971800"/>
            <a:ext cx="457200" cy="0"/>
          </a:xfrm>
          <a:prstGeom prst="line">
            <a:avLst/>
          </a:prstGeom>
          <a:noFill/>
          <a:ln w="25400">
            <a:solidFill>
              <a:srgbClr val="76B900"/>
            </a:solidFill>
            <a:prstDash val="solid"/>
            <a:tailEnd type="triangle"/>
          </a:ln>
        </p:spPr>
      </p:sp>
      <p:sp>
        <p:nvSpPr>
          <p:cNvPr id="14" name="Shape 12"/>
          <p:cNvSpPr/>
          <p:nvPr/>
        </p:nvSpPr>
        <p:spPr>
          <a:xfrm>
            <a:off x="7680960" y="2971800"/>
            <a:ext cx="457200" cy="0"/>
          </a:xfrm>
          <a:prstGeom prst="line">
            <a:avLst/>
          </a:prstGeom>
          <a:noFill/>
          <a:ln w="25400">
            <a:solidFill>
              <a:srgbClr val="76B900"/>
            </a:solidFill>
            <a:prstDash val="solid"/>
            <a:tailEnd type="triangle"/>
          </a:ln>
        </p:spPr>
      </p:sp>
      <p:sp>
        <p:nvSpPr>
          <p:cNvPr id="15" name="Shape 13"/>
          <p:cNvSpPr/>
          <p:nvPr/>
        </p:nvSpPr>
        <p:spPr>
          <a:xfrm>
            <a:off x="658368" y="4517136"/>
            <a:ext cx="118872" cy="118872"/>
          </a:xfrm>
          <a:prstGeom prst="ellipse">
            <a:avLst/>
          </a:prstGeom>
          <a:solidFill>
            <a:srgbClr val="76B900"/>
          </a:solidFill>
          <a:ln w="12700">
            <a:solidFill>
              <a:srgbClr val="76B900"/>
            </a:solidFill>
            <a:prstDash val="solid"/>
          </a:ln>
        </p:spPr>
      </p:sp>
      <p:sp>
        <p:nvSpPr>
          <p:cNvPr id="16" name="Text 14"/>
          <p:cNvSpPr/>
          <p:nvPr/>
        </p:nvSpPr>
        <p:spPr>
          <a:xfrm>
            <a:off x="932688" y="4434840"/>
            <a:ext cx="10543032" cy="365760"/>
          </a:xfrm>
          <a:prstGeom prst="rect">
            <a:avLst/>
          </a:prstGeom>
          <a:noFill/>
          <a:ln/>
        </p:spPr>
        <p:txBody>
          <a:bodyPr wrap="square" lIns="0" tIns="0" rIns="0" bIns="0" rtlCol="0" anchor="ctr"/>
          <a:lstStyle/>
          <a:p>
            <a:pPr indent="0" marL="0">
              <a:buNone/>
            </a:pPr>
            <a:r>
              <a:rPr lang="en-US" sz="1300" dirty="0">
                <a:solidFill>
                  <a:srgbClr val="9AA4AE"/>
                </a:solidFill>
                <a:latin typeface="Calibri" pitchFamily="34" charset="0"/>
                <a:ea typeface="Calibri" pitchFamily="34" charset="-122"/>
                <a:cs typeface="Calibri" pitchFamily="34" charset="-120"/>
              </a:rPr>
              <a:t>Le CV ne traverse jamais la fonction : le navigateur l'envoie au stockage via une URL signée.</a:t>
            </a:r>
            <a:endParaRPr lang="en-US" sz="1300" dirty="0"/>
          </a:p>
        </p:txBody>
      </p:sp>
      <p:sp>
        <p:nvSpPr>
          <p:cNvPr id="17" name="Shape 15"/>
          <p:cNvSpPr/>
          <p:nvPr/>
        </p:nvSpPr>
        <p:spPr>
          <a:xfrm>
            <a:off x="658368" y="5020056"/>
            <a:ext cx="118872" cy="118872"/>
          </a:xfrm>
          <a:prstGeom prst="ellipse">
            <a:avLst/>
          </a:prstGeom>
          <a:solidFill>
            <a:srgbClr val="76B900"/>
          </a:solidFill>
          <a:ln w="12700">
            <a:solidFill>
              <a:srgbClr val="76B900"/>
            </a:solidFill>
            <a:prstDash val="solid"/>
          </a:ln>
        </p:spPr>
      </p:sp>
      <p:sp>
        <p:nvSpPr>
          <p:cNvPr id="18" name="Text 16"/>
          <p:cNvSpPr/>
          <p:nvPr/>
        </p:nvSpPr>
        <p:spPr>
          <a:xfrm>
            <a:off x="932688" y="4937760"/>
            <a:ext cx="10543032" cy="365760"/>
          </a:xfrm>
          <a:prstGeom prst="rect">
            <a:avLst/>
          </a:prstGeom>
          <a:noFill/>
          <a:ln/>
        </p:spPr>
        <p:txBody>
          <a:bodyPr wrap="square" lIns="0" tIns="0" rIns="0" bIns="0" rtlCol="0" anchor="ctr"/>
          <a:lstStyle/>
          <a:p>
            <a:pPr indent="0" marL="0">
              <a:buNone/>
            </a:pPr>
            <a:r>
              <a:rPr lang="en-US" sz="1300" dirty="0">
                <a:solidFill>
                  <a:srgbClr val="9AA4AE"/>
                </a:solidFill>
                <a:latin typeface="Calibri" pitchFamily="34" charset="0"/>
                <a:ea typeface="Calibri" pitchFamily="34" charset="-122"/>
                <a:cs typeface="Calibri" pitchFamily="34" charset="-120"/>
              </a:rPr>
              <a:t>La base n'est jamais interrogée depuis le navigateur — RLS active, aucune police anonyme.</a:t>
            </a:r>
            <a:endParaRPr lang="en-US" sz="1300" dirty="0"/>
          </a:p>
        </p:txBody>
      </p:sp>
      <p:sp>
        <p:nvSpPr>
          <p:cNvPr id="19" name="Shape 17"/>
          <p:cNvSpPr/>
          <p:nvPr/>
        </p:nvSpPr>
        <p:spPr>
          <a:xfrm>
            <a:off x="658368" y="5522976"/>
            <a:ext cx="118872" cy="118872"/>
          </a:xfrm>
          <a:prstGeom prst="ellipse">
            <a:avLst/>
          </a:prstGeom>
          <a:solidFill>
            <a:srgbClr val="76B900"/>
          </a:solidFill>
          <a:ln w="12700">
            <a:solidFill>
              <a:srgbClr val="76B900"/>
            </a:solidFill>
            <a:prstDash val="solid"/>
          </a:ln>
        </p:spPr>
      </p:sp>
      <p:sp>
        <p:nvSpPr>
          <p:cNvPr id="20" name="Text 18"/>
          <p:cNvSpPr/>
          <p:nvPr/>
        </p:nvSpPr>
        <p:spPr>
          <a:xfrm>
            <a:off x="932688" y="5440680"/>
            <a:ext cx="10543032" cy="365760"/>
          </a:xfrm>
          <a:prstGeom prst="rect">
            <a:avLst/>
          </a:prstGeom>
          <a:noFill/>
          <a:ln/>
        </p:spPr>
        <p:txBody>
          <a:bodyPr wrap="square" lIns="0" tIns="0" rIns="0" bIns="0" rtlCol="0" anchor="ctr"/>
          <a:lstStyle/>
          <a:p>
            <a:pPr indent="0" marL="0">
              <a:buNone/>
            </a:pPr>
            <a:r>
              <a:rPr lang="en-US" sz="1300" dirty="0">
                <a:solidFill>
                  <a:srgbClr val="9AA4AE"/>
                </a:solidFill>
                <a:latin typeface="Calibri" pitchFamily="34" charset="0"/>
                <a:ea typeface="Calibri" pitchFamily="34" charset="-122"/>
                <a:cs typeface="Calibri" pitchFamily="34" charset="-120"/>
              </a:rPr>
              <a:t>Une seule fonction sert toutes les routes ; le modèle XGBoost est embarqué au build.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640080" y="411480"/>
            <a:ext cx="10908792" cy="68580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L'intelligence artificielle, en détail</a:t>
            </a:r>
            <a:endParaRPr lang="en-US" sz="3400" dirty="0"/>
          </a:p>
        </p:txBody>
      </p:sp>
      <p:sp>
        <p:nvSpPr>
          <p:cNvPr id="3" name="Text 1"/>
          <p:cNvSpPr/>
          <p:nvPr/>
        </p:nvSpPr>
        <p:spPr>
          <a:xfrm>
            <a:off x="640080" y="1078992"/>
            <a:ext cx="10908792" cy="384048"/>
          </a:xfrm>
          <a:prstGeom prst="rect">
            <a:avLst/>
          </a:prstGeom>
          <a:noFill/>
          <a:ln/>
        </p:spPr>
        <p:txBody>
          <a:bodyPr wrap="square" lIns="0" tIns="0" rIns="0" bIns="0" rtlCol="0" anchor="ctr"/>
          <a:lstStyle/>
          <a:p>
            <a:pPr indent="0" marL="0">
              <a:buNone/>
            </a:pPr>
            <a:r>
              <a:rPr lang="en-US" sz="1400" dirty="0">
                <a:solidFill>
                  <a:srgbClr val="9AA4AE"/>
                </a:solidFill>
                <a:latin typeface="Calibri" pitchFamily="34" charset="0"/>
                <a:ea typeface="Calibri" pitchFamily="34" charset="-122"/>
                <a:cs typeface="Calibri" pitchFamily="34" charset="-120"/>
              </a:rPr>
              <a:t>Quatre briques, chacune avec un rôle précis</a:t>
            </a:r>
            <a:endParaRPr lang="en-US" sz="1400" dirty="0"/>
          </a:p>
        </p:txBody>
      </p:sp>
      <p:sp>
        <p:nvSpPr>
          <p:cNvPr id="4" name="Shape 2"/>
          <p:cNvSpPr/>
          <p:nvPr/>
        </p:nvSpPr>
        <p:spPr>
          <a:xfrm>
            <a:off x="640080" y="1828800"/>
            <a:ext cx="5394960" cy="1920240"/>
          </a:xfrm>
          <a:prstGeom prst="roundRect">
            <a:avLst>
              <a:gd name="adj" fmla="val 4286"/>
            </a:avLst>
          </a:prstGeom>
          <a:solidFill>
            <a:srgbClr val="18181A"/>
          </a:solidFill>
          <a:ln w="12700">
            <a:solidFill>
              <a:srgbClr val="2A2A2A"/>
            </a:solidFill>
            <a:prstDash val="solid"/>
          </a:ln>
        </p:spPr>
      </p:sp>
      <p:sp>
        <p:nvSpPr>
          <p:cNvPr id="5" name="Shape 3"/>
          <p:cNvSpPr/>
          <p:nvPr/>
        </p:nvSpPr>
        <p:spPr>
          <a:xfrm>
            <a:off x="932688" y="2103120"/>
            <a:ext cx="365760" cy="365760"/>
          </a:xfrm>
          <a:prstGeom prst="ellipse">
            <a:avLst/>
          </a:prstGeom>
          <a:solidFill>
            <a:srgbClr val="76B900"/>
          </a:solidFill>
          <a:ln w="12700">
            <a:solidFill>
              <a:srgbClr val="76B900"/>
            </a:solidFill>
            <a:prstDash val="solid"/>
          </a:ln>
        </p:spPr>
      </p:sp>
      <p:sp>
        <p:nvSpPr>
          <p:cNvPr id="6" name="Text 4"/>
          <p:cNvSpPr/>
          <p:nvPr/>
        </p:nvSpPr>
        <p:spPr>
          <a:xfrm>
            <a:off x="932688" y="2103120"/>
            <a:ext cx="365760" cy="365760"/>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417320" y="2121408"/>
            <a:ext cx="4297680" cy="347472"/>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Extraction des CV</a:t>
            </a:r>
            <a:endParaRPr lang="en-US" sz="1700" dirty="0"/>
          </a:p>
        </p:txBody>
      </p:sp>
      <p:sp>
        <p:nvSpPr>
          <p:cNvPr id="8" name="Text 6"/>
          <p:cNvSpPr/>
          <p:nvPr/>
        </p:nvSpPr>
        <p:spPr>
          <a:xfrm>
            <a:off x="932688" y="2606040"/>
            <a:ext cx="4800600" cy="1005840"/>
          </a:xfrm>
          <a:prstGeom prst="rect">
            <a:avLst/>
          </a:prstGeom>
          <a:noFill/>
          <a:ln/>
        </p:spPr>
        <p:txBody>
          <a:bodyPr wrap="square" lIns="0" tIns="0" rIns="0" bIns="0" rtlCol="0" anchor="ctr"/>
          <a:lstStyle/>
          <a:p>
            <a:pPr indent="0" marL="0">
              <a:lnSpc>
                <a:spcPts val="1600"/>
              </a:lnSpc>
              <a:buNone/>
            </a:pPr>
            <a:r>
              <a:rPr lang="en-US" sz="1250" dirty="0">
                <a:solidFill>
                  <a:srgbClr val="9AA4AE"/>
                </a:solidFill>
                <a:latin typeface="Calibri" pitchFamily="34" charset="0"/>
                <a:ea typeface="Calibri" pitchFamily="34" charset="-122"/>
                <a:cs typeface="Calibri" pitchFamily="34" charset="-120"/>
              </a:rPr>
              <a:t>Un LLM lit le PDF et en tire un profil structuré : compétences normalisées, niveau d'études, expérience. Les résultats sont mis en cache par empreinte du texte — un CV déjà vu ne consomme aucun jeton.</a:t>
            </a:r>
            <a:endParaRPr lang="en-US" sz="1250" dirty="0"/>
          </a:p>
        </p:txBody>
      </p:sp>
      <p:sp>
        <p:nvSpPr>
          <p:cNvPr id="9" name="Shape 7"/>
          <p:cNvSpPr/>
          <p:nvPr/>
        </p:nvSpPr>
        <p:spPr>
          <a:xfrm>
            <a:off x="6309360" y="1828800"/>
            <a:ext cx="5394960" cy="1920240"/>
          </a:xfrm>
          <a:prstGeom prst="roundRect">
            <a:avLst>
              <a:gd name="adj" fmla="val 4286"/>
            </a:avLst>
          </a:prstGeom>
          <a:solidFill>
            <a:srgbClr val="18181A"/>
          </a:solidFill>
          <a:ln w="12700">
            <a:solidFill>
              <a:srgbClr val="2A2A2A"/>
            </a:solidFill>
            <a:prstDash val="solid"/>
          </a:ln>
        </p:spPr>
      </p:sp>
      <p:sp>
        <p:nvSpPr>
          <p:cNvPr id="10" name="Shape 8"/>
          <p:cNvSpPr/>
          <p:nvPr/>
        </p:nvSpPr>
        <p:spPr>
          <a:xfrm>
            <a:off x="6601968" y="2103120"/>
            <a:ext cx="365760" cy="365760"/>
          </a:xfrm>
          <a:prstGeom prst="ellipse">
            <a:avLst/>
          </a:prstGeom>
          <a:solidFill>
            <a:srgbClr val="76B900"/>
          </a:solidFill>
          <a:ln w="12700">
            <a:solidFill>
              <a:srgbClr val="76B900"/>
            </a:solidFill>
            <a:prstDash val="solid"/>
          </a:ln>
        </p:spPr>
      </p:sp>
      <p:sp>
        <p:nvSpPr>
          <p:cNvPr id="11" name="Text 9"/>
          <p:cNvSpPr/>
          <p:nvPr/>
        </p:nvSpPr>
        <p:spPr>
          <a:xfrm>
            <a:off x="6601968" y="2103120"/>
            <a:ext cx="365760" cy="365760"/>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7086600" y="2121408"/>
            <a:ext cx="4297680" cy="347472"/>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Score explicable</a:t>
            </a:r>
            <a:endParaRPr lang="en-US" sz="1700" dirty="0"/>
          </a:p>
        </p:txBody>
      </p:sp>
      <p:sp>
        <p:nvSpPr>
          <p:cNvPr id="13" name="Text 11"/>
          <p:cNvSpPr/>
          <p:nvPr/>
        </p:nvSpPr>
        <p:spPr>
          <a:xfrm>
            <a:off x="6601968" y="2606040"/>
            <a:ext cx="4800600" cy="1005840"/>
          </a:xfrm>
          <a:prstGeom prst="rect">
            <a:avLst/>
          </a:prstGeom>
          <a:noFill/>
          <a:ln/>
        </p:spPr>
        <p:txBody>
          <a:bodyPr wrap="square" lIns="0" tIns="0" rIns="0" bIns="0" rtlCol="0" anchor="ctr"/>
          <a:lstStyle/>
          <a:p>
            <a:pPr indent="0" marL="0">
              <a:lnSpc>
                <a:spcPts val="1600"/>
              </a:lnSpc>
              <a:buNone/>
            </a:pPr>
            <a:r>
              <a:rPr lang="en-US" sz="1250" dirty="0">
                <a:solidFill>
                  <a:srgbClr val="9AA4AE"/>
                </a:solidFill>
                <a:latin typeface="Calibri" pitchFamily="34" charset="0"/>
                <a:ea typeface="Calibri" pitchFamily="34" charset="-122"/>
                <a:cs typeface="Calibri" pitchFamily="34" charset="-120"/>
              </a:rPr>
              <a:t>Chaque couple candidat / offre reçoit un score pondéré, décomposé par critère. Le recruteur voit d'où vient le chiffre : ce n'est pas une boîte noire.</a:t>
            </a:r>
            <a:endParaRPr lang="en-US" sz="1250" dirty="0"/>
          </a:p>
        </p:txBody>
      </p:sp>
      <p:sp>
        <p:nvSpPr>
          <p:cNvPr id="14" name="Shape 12"/>
          <p:cNvSpPr/>
          <p:nvPr/>
        </p:nvSpPr>
        <p:spPr>
          <a:xfrm>
            <a:off x="640080" y="4023360"/>
            <a:ext cx="5394960" cy="1920240"/>
          </a:xfrm>
          <a:prstGeom prst="roundRect">
            <a:avLst>
              <a:gd name="adj" fmla="val 4286"/>
            </a:avLst>
          </a:prstGeom>
          <a:solidFill>
            <a:srgbClr val="18181A"/>
          </a:solidFill>
          <a:ln w="12700">
            <a:solidFill>
              <a:srgbClr val="2A2A2A"/>
            </a:solidFill>
            <a:prstDash val="solid"/>
          </a:ln>
        </p:spPr>
      </p:sp>
      <p:sp>
        <p:nvSpPr>
          <p:cNvPr id="15" name="Shape 13"/>
          <p:cNvSpPr/>
          <p:nvPr/>
        </p:nvSpPr>
        <p:spPr>
          <a:xfrm>
            <a:off x="932688" y="4297680"/>
            <a:ext cx="365760" cy="365760"/>
          </a:xfrm>
          <a:prstGeom prst="ellipse">
            <a:avLst/>
          </a:prstGeom>
          <a:solidFill>
            <a:srgbClr val="76B900"/>
          </a:solidFill>
          <a:ln w="12700">
            <a:solidFill>
              <a:srgbClr val="76B900"/>
            </a:solidFill>
            <a:prstDash val="solid"/>
          </a:ln>
        </p:spPr>
      </p:sp>
      <p:sp>
        <p:nvSpPr>
          <p:cNvPr id="16" name="Text 14"/>
          <p:cNvSpPr/>
          <p:nvPr/>
        </p:nvSpPr>
        <p:spPr>
          <a:xfrm>
            <a:off x="932688" y="4297680"/>
            <a:ext cx="365760" cy="365760"/>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1417320" y="4315968"/>
            <a:ext cx="4297680" cy="347472"/>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Affectation optimale</a:t>
            </a:r>
            <a:endParaRPr lang="en-US" sz="1700" dirty="0"/>
          </a:p>
        </p:txBody>
      </p:sp>
      <p:sp>
        <p:nvSpPr>
          <p:cNvPr id="18" name="Text 16"/>
          <p:cNvSpPr/>
          <p:nvPr/>
        </p:nvSpPr>
        <p:spPr>
          <a:xfrm>
            <a:off x="932688" y="4800600"/>
            <a:ext cx="4800600" cy="1005840"/>
          </a:xfrm>
          <a:prstGeom prst="rect">
            <a:avLst/>
          </a:prstGeom>
          <a:noFill/>
          <a:ln/>
        </p:spPr>
        <p:txBody>
          <a:bodyPr wrap="square" lIns="0" tIns="0" rIns="0" bIns="0" rtlCol="0" anchor="ctr"/>
          <a:lstStyle/>
          <a:p>
            <a:pPr indent="0" marL="0">
              <a:lnSpc>
                <a:spcPts val="1600"/>
              </a:lnSpc>
              <a:buNone/>
            </a:pPr>
            <a:r>
              <a:rPr lang="en-US" sz="1250" dirty="0">
                <a:solidFill>
                  <a:srgbClr val="9AA4AE"/>
                </a:solidFill>
                <a:latin typeface="Calibri" pitchFamily="34" charset="0"/>
                <a:ea typeface="Calibri" pitchFamily="34" charset="-122"/>
                <a:cs typeface="Calibri" pitchFamily="34" charset="-120"/>
              </a:rPr>
              <a:t>L'algorithme hongrois résout l'ensemble des affectations d'un coup, place par place. Le résultat est un optimum global, pas un remplissage successif.</a:t>
            </a:r>
            <a:endParaRPr lang="en-US" sz="1250" dirty="0"/>
          </a:p>
        </p:txBody>
      </p:sp>
      <p:sp>
        <p:nvSpPr>
          <p:cNvPr id="19" name="Shape 17"/>
          <p:cNvSpPr/>
          <p:nvPr/>
        </p:nvSpPr>
        <p:spPr>
          <a:xfrm>
            <a:off x="6309360" y="4023360"/>
            <a:ext cx="5394960" cy="1920240"/>
          </a:xfrm>
          <a:prstGeom prst="roundRect">
            <a:avLst>
              <a:gd name="adj" fmla="val 4286"/>
            </a:avLst>
          </a:prstGeom>
          <a:solidFill>
            <a:srgbClr val="18181A"/>
          </a:solidFill>
          <a:ln w="12700">
            <a:solidFill>
              <a:srgbClr val="2A2A2A"/>
            </a:solidFill>
            <a:prstDash val="solid"/>
          </a:ln>
        </p:spPr>
      </p:sp>
      <p:sp>
        <p:nvSpPr>
          <p:cNvPr id="20" name="Shape 18"/>
          <p:cNvSpPr/>
          <p:nvPr/>
        </p:nvSpPr>
        <p:spPr>
          <a:xfrm>
            <a:off x="6601968" y="4297680"/>
            <a:ext cx="365760" cy="365760"/>
          </a:xfrm>
          <a:prstGeom prst="ellipse">
            <a:avLst/>
          </a:prstGeom>
          <a:solidFill>
            <a:srgbClr val="76B900"/>
          </a:solidFill>
          <a:ln w="12700">
            <a:solidFill>
              <a:srgbClr val="76B900"/>
            </a:solidFill>
            <a:prstDash val="solid"/>
          </a:ln>
        </p:spPr>
      </p:sp>
      <p:sp>
        <p:nvSpPr>
          <p:cNvPr id="21" name="Text 19"/>
          <p:cNvSpPr/>
          <p:nvPr/>
        </p:nvSpPr>
        <p:spPr>
          <a:xfrm>
            <a:off x="6601968" y="4297680"/>
            <a:ext cx="365760" cy="365760"/>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4</a:t>
            </a:r>
            <a:endParaRPr lang="en-US" sz="1400" dirty="0"/>
          </a:p>
        </p:txBody>
      </p:sp>
      <p:sp>
        <p:nvSpPr>
          <p:cNvPr id="22" name="Text 20"/>
          <p:cNvSpPr/>
          <p:nvPr/>
        </p:nvSpPr>
        <p:spPr>
          <a:xfrm>
            <a:off x="7086600" y="4315968"/>
            <a:ext cx="4297680" cy="347472"/>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Prévision de capacité</a:t>
            </a:r>
            <a:endParaRPr lang="en-US" sz="1700" dirty="0"/>
          </a:p>
        </p:txBody>
      </p:sp>
      <p:sp>
        <p:nvSpPr>
          <p:cNvPr id="23" name="Text 21"/>
          <p:cNvSpPr/>
          <p:nvPr/>
        </p:nvSpPr>
        <p:spPr>
          <a:xfrm>
            <a:off x="6601968" y="4800600"/>
            <a:ext cx="4800600" cy="1005840"/>
          </a:xfrm>
          <a:prstGeom prst="rect">
            <a:avLst/>
          </a:prstGeom>
          <a:noFill/>
          <a:ln/>
        </p:spPr>
        <p:txBody>
          <a:bodyPr wrap="square" lIns="0" tIns="0" rIns="0" bIns="0" rtlCol="0" anchor="ctr"/>
          <a:lstStyle/>
          <a:p>
            <a:pPr indent="0" marL="0">
              <a:lnSpc>
                <a:spcPts val="1600"/>
              </a:lnSpc>
              <a:buNone/>
            </a:pPr>
            <a:r>
              <a:rPr lang="en-US" sz="1250" dirty="0">
                <a:solidFill>
                  <a:srgbClr val="9AA4AE"/>
                </a:solidFill>
                <a:latin typeface="Calibri" pitchFamily="34" charset="0"/>
                <a:ea typeface="Calibri" pitchFamily="34" charset="-122"/>
                <a:cs typeface="Calibri" pitchFamily="34" charset="-120"/>
              </a:rPr>
              <a:t>Un modèle XGBoost entraîné hors ligne anticipe la demande par département et recommande le nombre de places à ouvrir.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640080" y="411480"/>
            <a:ext cx="10908792" cy="68580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L'assistant conversationnel</a:t>
            </a:r>
            <a:endParaRPr lang="en-US" sz="3400" dirty="0"/>
          </a:p>
        </p:txBody>
      </p:sp>
      <p:sp>
        <p:nvSpPr>
          <p:cNvPr id="3" name="Text 1"/>
          <p:cNvSpPr/>
          <p:nvPr/>
        </p:nvSpPr>
        <p:spPr>
          <a:xfrm>
            <a:off x="640080" y="1078992"/>
            <a:ext cx="10908792" cy="384048"/>
          </a:xfrm>
          <a:prstGeom prst="rect">
            <a:avLst/>
          </a:prstGeom>
          <a:noFill/>
          <a:ln/>
        </p:spPr>
        <p:txBody>
          <a:bodyPr wrap="square" lIns="0" tIns="0" rIns="0" bIns="0" rtlCol="0" anchor="ctr"/>
          <a:lstStyle/>
          <a:p>
            <a:pPr indent="0" marL="0">
              <a:buNone/>
            </a:pPr>
            <a:r>
              <a:rPr lang="en-US" sz="1400" dirty="0">
                <a:solidFill>
                  <a:srgbClr val="9AA4AE"/>
                </a:solidFill>
                <a:latin typeface="Calibri" pitchFamily="34" charset="0"/>
                <a:ea typeface="Calibri" pitchFamily="34" charset="-122"/>
                <a:cs typeface="Calibri" pitchFamily="34" charset="-120"/>
              </a:rPr>
              <a:t>Un agent qui choisit lui-même où chercher</a:t>
            </a:r>
            <a:endParaRPr lang="en-US" sz="1400" dirty="0"/>
          </a:p>
        </p:txBody>
      </p:sp>
      <p:sp>
        <p:nvSpPr>
          <p:cNvPr id="4" name="Shape 2"/>
          <p:cNvSpPr/>
          <p:nvPr/>
        </p:nvSpPr>
        <p:spPr>
          <a:xfrm>
            <a:off x="640080" y="1874520"/>
            <a:ext cx="5486400" cy="3566160"/>
          </a:xfrm>
          <a:prstGeom prst="roundRect">
            <a:avLst>
              <a:gd name="adj" fmla="val 2308"/>
            </a:avLst>
          </a:prstGeom>
          <a:solidFill>
            <a:srgbClr val="18181A"/>
          </a:solidFill>
          <a:ln w="12700">
            <a:solidFill>
              <a:srgbClr val="2A2A2A"/>
            </a:solidFill>
            <a:prstDash val="solid"/>
          </a:ln>
        </p:spPr>
      </p:sp>
      <p:sp>
        <p:nvSpPr>
          <p:cNvPr id="5" name="Text 3"/>
          <p:cNvSpPr/>
          <p:nvPr/>
        </p:nvSpPr>
        <p:spPr>
          <a:xfrm>
            <a:off x="960120" y="2103120"/>
            <a:ext cx="4846320"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Ce qu'il sait faire</a:t>
            </a:r>
            <a:endParaRPr lang="en-US" sz="1800" dirty="0"/>
          </a:p>
        </p:txBody>
      </p:sp>
      <p:sp>
        <p:nvSpPr>
          <p:cNvPr id="6" name="Shape 4"/>
          <p:cNvSpPr/>
          <p:nvPr/>
        </p:nvSpPr>
        <p:spPr>
          <a:xfrm>
            <a:off x="987552" y="2770632"/>
            <a:ext cx="128016" cy="128016"/>
          </a:xfrm>
          <a:prstGeom prst="ellipse">
            <a:avLst/>
          </a:prstGeom>
          <a:solidFill>
            <a:srgbClr val="76B900"/>
          </a:solidFill>
          <a:ln w="12700">
            <a:solidFill>
              <a:srgbClr val="76B900"/>
            </a:solidFill>
            <a:prstDash val="solid"/>
          </a:ln>
        </p:spPr>
      </p:sp>
      <p:sp>
        <p:nvSpPr>
          <p:cNvPr id="7" name="Text 5"/>
          <p:cNvSpPr/>
          <p:nvPr/>
        </p:nvSpPr>
        <p:spPr>
          <a:xfrm>
            <a:off x="1261872" y="2697480"/>
            <a:ext cx="4572000" cy="365760"/>
          </a:xfrm>
          <a:prstGeom prst="rect">
            <a:avLst/>
          </a:prstGeom>
          <a:noFill/>
          <a:ln/>
        </p:spPr>
        <p:txBody>
          <a:bodyPr wrap="square" lIns="0" tIns="0" rIns="0" bIns="0" rtlCol="0" anchor="ctr"/>
          <a:lstStyle/>
          <a:p>
            <a:pPr indent="0" marL="0">
              <a:buNone/>
            </a:pPr>
            <a:r>
              <a:rPr lang="en-US" sz="1350" dirty="0">
                <a:solidFill>
                  <a:srgbClr val="9AA4AE"/>
                </a:solidFill>
                <a:latin typeface="Calibri" pitchFamily="34" charset="0"/>
                <a:ea typeface="Calibri" pitchFamily="34" charset="-122"/>
                <a:cs typeface="Calibri" pitchFamily="34" charset="-120"/>
              </a:rPr>
              <a:t>Rechercher des profils de candidats</a:t>
            </a:r>
            <a:endParaRPr lang="en-US" sz="1350" dirty="0"/>
          </a:p>
        </p:txBody>
      </p:sp>
      <p:sp>
        <p:nvSpPr>
          <p:cNvPr id="8" name="Shape 6"/>
          <p:cNvSpPr/>
          <p:nvPr/>
        </p:nvSpPr>
        <p:spPr>
          <a:xfrm>
            <a:off x="987552" y="3300984"/>
            <a:ext cx="128016" cy="128016"/>
          </a:xfrm>
          <a:prstGeom prst="ellipse">
            <a:avLst/>
          </a:prstGeom>
          <a:solidFill>
            <a:srgbClr val="76B900"/>
          </a:solidFill>
          <a:ln w="12700">
            <a:solidFill>
              <a:srgbClr val="76B900"/>
            </a:solidFill>
            <a:prstDash val="solid"/>
          </a:ln>
        </p:spPr>
      </p:sp>
      <p:sp>
        <p:nvSpPr>
          <p:cNvPr id="9" name="Text 7"/>
          <p:cNvSpPr/>
          <p:nvPr/>
        </p:nvSpPr>
        <p:spPr>
          <a:xfrm>
            <a:off x="1261872" y="3227832"/>
            <a:ext cx="4572000" cy="365760"/>
          </a:xfrm>
          <a:prstGeom prst="rect">
            <a:avLst/>
          </a:prstGeom>
          <a:noFill/>
          <a:ln/>
        </p:spPr>
        <p:txBody>
          <a:bodyPr wrap="square" lIns="0" tIns="0" rIns="0" bIns="0" rtlCol="0" anchor="ctr"/>
          <a:lstStyle/>
          <a:p>
            <a:pPr indent="0" marL="0">
              <a:buNone/>
            </a:pPr>
            <a:r>
              <a:rPr lang="en-US" sz="1350" dirty="0">
                <a:solidFill>
                  <a:srgbClr val="9AA4AE"/>
                </a:solidFill>
                <a:latin typeface="Calibri" pitchFamily="34" charset="0"/>
                <a:ea typeface="Calibri" pitchFamily="34" charset="-122"/>
                <a:cs typeface="Calibri" pitchFamily="34" charset="-120"/>
              </a:rPr>
              <a:t>Interroger les documents de référence</a:t>
            </a:r>
            <a:endParaRPr lang="en-US" sz="1350" dirty="0"/>
          </a:p>
        </p:txBody>
      </p:sp>
      <p:sp>
        <p:nvSpPr>
          <p:cNvPr id="10" name="Shape 8"/>
          <p:cNvSpPr/>
          <p:nvPr/>
        </p:nvSpPr>
        <p:spPr>
          <a:xfrm>
            <a:off x="987552" y="3831336"/>
            <a:ext cx="128016" cy="128016"/>
          </a:xfrm>
          <a:prstGeom prst="ellipse">
            <a:avLst/>
          </a:prstGeom>
          <a:solidFill>
            <a:srgbClr val="76B900"/>
          </a:solidFill>
          <a:ln w="12700">
            <a:solidFill>
              <a:srgbClr val="76B900"/>
            </a:solidFill>
            <a:prstDash val="solid"/>
          </a:ln>
        </p:spPr>
      </p:sp>
      <p:sp>
        <p:nvSpPr>
          <p:cNvPr id="11" name="Text 9"/>
          <p:cNvSpPr/>
          <p:nvPr/>
        </p:nvSpPr>
        <p:spPr>
          <a:xfrm>
            <a:off x="1261872" y="3758184"/>
            <a:ext cx="4572000" cy="365760"/>
          </a:xfrm>
          <a:prstGeom prst="rect">
            <a:avLst/>
          </a:prstGeom>
          <a:noFill/>
          <a:ln/>
        </p:spPr>
        <p:txBody>
          <a:bodyPr wrap="square" lIns="0" tIns="0" rIns="0" bIns="0" rtlCol="0" anchor="ctr"/>
          <a:lstStyle/>
          <a:p>
            <a:pPr indent="0" marL="0">
              <a:buNone/>
            </a:pPr>
            <a:r>
              <a:rPr lang="en-US" sz="1350" dirty="0">
                <a:solidFill>
                  <a:srgbClr val="9AA4AE"/>
                </a:solidFill>
                <a:latin typeface="Calibri" pitchFamily="34" charset="0"/>
                <a:ea typeface="Calibri" pitchFamily="34" charset="-122"/>
                <a:cs typeface="Calibri" pitchFamily="34" charset="-120"/>
              </a:rPr>
              <a:t>Expliquer le score d'une affectation</a:t>
            </a:r>
            <a:endParaRPr lang="en-US" sz="1350" dirty="0"/>
          </a:p>
        </p:txBody>
      </p:sp>
      <p:sp>
        <p:nvSpPr>
          <p:cNvPr id="12" name="Shape 10"/>
          <p:cNvSpPr/>
          <p:nvPr/>
        </p:nvSpPr>
        <p:spPr>
          <a:xfrm>
            <a:off x="987552" y="4361688"/>
            <a:ext cx="128016" cy="128016"/>
          </a:xfrm>
          <a:prstGeom prst="ellipse">
            <a:avLst/>
          </a:prstGeom>
          <a:solidFill>
            <a:srgbClr val="76B900"/>
          </a:solidFill>
          <a:ln w="12700">
            <a:solidFill>
              <a:srgbClr val="76B900"/>
            </a:solidFill>
            <a:prstDash val="solid"/>
          </a:ln>
        </p:spPr>
      </p:sp>
      <p:sp>
        <p:nvSpPr>
          <p:cNvPr id="13" name="Text 11"/>
          <p:cNvSpPr/>
          <p:nvPr/>
        </p:nvSpPr>
        <p:spPr>
          <a:xfrm>
            <a:off x="1261872" y="4288536"/>
            <a:ext cx="4572000" cy="365760"/>
          </a:xfrm>
          <a:prstGeom prst="rect">
            <a:avLst/>
          </a:prstGeom>
          <a:noFill/>
          <a:ln/>
        </p:spPr>
        <p:txBody>
          <a:bodyPr wrap="square" lIns="0" tIns="0" rIns="0" bIns="0" rtlCol="0" anchor="ctr"/>
          <a:lstStyle/>
          <a:p>
            <a:pPr indent="0" marL="0">
              <a:buNone/>
            </a:pPr>
            <a:r>
              <a:rPr lang="en-US" sz="1350" dirty="0">
                <a:solidFill>
                  <a:srgbClr val="9AA4AE"/>
                </a:solidFill>
                <a:latin typeface="Calibri" pitchFamily="34" charset="0"/>
                <a:ea typeface="Calibri" pitchFamily="34" charset="-122"/>
                <a:cs typeface="Calibri" pitchFamily="34" charset="-120"/>
              </a:rPr>
              <a:t>Consulter les offres et les réservations</a:t>
            </a:r>
            <a:endParaRPr lang="en-US" sz="1350" dirty="0"/>
          </a:p>
        </p:txBody>
      </p:sp>
      <p:sp>
        <p:nvSpPr>
          <p:cNvPr id="14" name="Text 12"/>
          <p:cNvSpPr/>
          <p:nvPr/>
        </p:nvSpPr>
        <p:spPr>
          <a:xfrm>
            <a:off x="960120" y="4892040"/>
            <a:ext cx="4846320" cy="457200"/>
          </a:xfrm>
          <a:prstGeom prst="rect">
            <a:avLst/>
          </a:prstGeom>
          <a:noFill/>
          <a:ln/>
        </p:spPr>
        <p:txBody>
          <a:bodyPr wrap="square" lIns="0" tIns="0" rIns="0" bIns="0" rtlCol="0" anchor="ctr"/>
          <a:lstStyle/>
          <a:p>
            <a:pPr indent="0" marL="0">
              <a:buNone/>
            </a:pPr>
            <a:r>
              <a:rPr lang="en-US" sz="1250" i="1" dirty="0">
                <a:solidFill>
                  <a:srgbClr val="8FD400"/>
                </a:solidFill>
                <a:latin typeface="Calibri" pitchFamily="34" charset="0"/>
                <a:ea typeface="Calibri" pitchFamily="34" charset="-122"/>
                <a:cs typeface="Calibri" pitchFamily="34" charset="-120"/>
              </a:rPr>
              <a:t>Il garde le fil : « et sa filière ? » porte bien sur le candidat précédent.</a:t>
            </a:r>
            <a:endParaRPr lang="en-US" sz="1250" dirty="0"/>
          </a:p>
        </p:txBody>
      </p:sp>
      <p:sp>
        <p:nvSpPr>
          <p:cNvPr id="15" name="Shape 13"/>
          <p:cNvSpPr/>
          <p:nvPr/>
        </p:nvSpPr>
        <p:spPr>
          <a:xfrm>
            <a:off x="6446520" y="1874520"/>
            <a:ext cx="5102352" cy="3566160"/>
          </a:xfrm>
          <a:prstGeom prst="roundRect">
            <a:avLst>
              <a:gd name="adj" fmla="val 2308"/>
            </a:avLst>
          </a:prstGeom>
          <a:solidFill>
            <a:srgbClr val="202024"/>
          </a:solidFill>
          <a:ln w="12700">
            <a:solidFill>
              <a:srgbClr val="2A2A2A"/>
            </a:solidFill>
            <a:prstDash val="solid"/>
          </a:ln>
        </p:spPr>
      </p:sp>
      <p:sp>
        <p:nvSpPr>
          <p:cNvPr id="16" name="Text 14"/>
          <p:cNvSpPr/>
          <p:nvPr/>
        </p:nvSpPr>
        <p:spPr>
          <a:xfrm>
            <a:off x="6766560" y="2103120"/>
            <a:ext cx="4480560"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Comment il fonctionne</a:t>
            </a:r>
            <a:endParaRPr lang="en-US" sz="1800" dirty="0"/>
          </a:p>
        </p:txBody>
      </p:sp>
      <p:sp>
        <p:nvSpPr>
          <p:cNvPr id="17" name="Shape 15"/>
          <p:cNvSpPr/>
          <p:nvPr/>
        </p:nvSpPr>
        <p:spPr>
          <a:xfrm>
            <a:off x="6766560" y="2697480"/>
            <a:ext cx="329184" cy="329184"/>
          </a:xfrm>
          <a:prstGeom prst="ellipse">
            <a:avLst/>
          </a:prstGeom>
          <a:solidFill>
            <a:srgbClr val="76B900"/>
          </a:solidFill>
          <a:ln w="12700">
            <a:solidFill>
              <a:srgbClr val="76B900"/>
            </a:solidFill>
            <a:prstDash val="solid"/>
          </a:ln>
        </p:spPr>
      </p:sp>
      <p:sp>
        <p:nvSpPr>
          <p:cNvPr id="18" name="Text 16"/>
          <p:cNvSpPr/>
          <p:nvPr/>
        </p:nvSpPr>
        <p:spPr>
          <a:xfrm>
            <a:off x="6766560" y="2697480"/>
            <a:ext cx="329184" cy="329184"/>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1</a:t>
            </a:r>
            <a:endParaRPr lang="en-US" sz="1400" dirty="0"/>
          </a:p>
        </p:txBody>
      </p:sp>
      <p:sp>
        <p:nvSpPr>
          <p:cNvPr id="19" name="Text 17"/>
          <p:cNvSpPr/>
          <p:nvPr/>
        </p:nvSpPr>
        <p:spPr>
          <a:xfrm>
            <a:off x="7223760" y="2706624"/>
            <a:ext cx="1371600" cy="310896"/>
          </a:xfrm>
          <a:prstGeom prst="rect">
            <a:avLst/>
          </a:prstGeom>
          <a:noFill/>
          <a:ln/>
        </p:spPr>
        <p:txBody>
          <a:bodyPr wrap="square" lIns="0" tIns="0" rIns="0" bIns="0" rtlCol="0" anchor="ctr"/>
          <a:lstStyle/>
          <a:p>
            <a:pPr indent="0" marL="0">
              <a:buNone/>
            </a:pPr>
            <a:r>
              <a:rPr lang="en-US" sz="1350" b="1" dirty="0">
                <a:solidFill>
                  <a:srgbClr val="76B900"/>
                </a:solidFill>
                <a:latin typeface="Arial" pitchFamily="34" charset="0"/>
                <a:ea typeface="Arial" pitchFamily="34" charset="-122"/>
                <a:cs typeface="Arial" pitchFamily="34" charset="-120"/>
              </a:rPr>
              <a:t>Question</a:t>
            </a:r>
            <a:endParaRPr lang="en-US" sz="1350" dirty="0"/>
          </a:p>
        </p:txBody>
      </p:sp>
      <p:sp>
        <p:nvSpPr>
          <p:cNvPr id="20" name="Text 18"/>
          <p:cNvSpPr/>
          <p:nvPr/>
        </p:nvSpPr>
        <p:spPr>
          <a:xfrm>
            <a:off x="8503920" y="2724912"/>
            <a:ext cx="2926080" cy="310896"/>
          </a:xfrm>
          <a:prstGeom prst="rect">
            <a:avLst/>
          </a:prstGeom>
          <a:noFill/>
          <a:ln/>
        </p:spPr>
        <p:txBody>
          <a:bodyPr wrap="square" lIns="0" tIns="0" rIns="0" bIns="0" rtlCol="0" anchor="ctr"/>
          <a:lstStyle/>
          <a:p>
            <a:pPr indent="0" marL="0">
              <a:buNone/>
            </a:pPr>
            <a:r>
              <a:rPr lang="en-US" sz="1250" dirty="0">
                <a:solidFill>
                  <a:srgbClr val="9AA4AE"/>
                </a:solidFill>
                <a:latin typeface="Calibri" pitchFamily="34" charset="0"/>
                <a:ea typeface="Calibri" pitchFamily="34" charset="-122"/>
                <a:cs typeface="Calibri" pitchFamily="34" charset="-120"/>
              </a:rPr>
              <a:t>reçue avec tout l'historique</a:t>
            </a:r>
            <a:endParaRPr lang="en-US" sz="1250" dirty="0"/>
          </a:p>
        </p:txBody>
      </p:sp>
      <p:sp>
        <p:nvSpPr>
          <p:cNvPr id="21" name="Shape 19"/>
          <p:cNvSpPr/>
          <p:nvPr/>
        </p:nvSpPr>
        <p:spPr>
          <a:xfrm>
            <a:off x="6766560" y="3264408"/>
            <a:ext cx="329184" cy="329184"/>
          </a:xfrm>
          <a:prstGeom prst="ellipse">
            <a:avLst/>
          </a:prstGeom>
          <a:solidFill>
            <a:srgbClr val="76B900"/>
          </a:solidFill>
          <a:ln w="12700">
            <a:solidFill>
              <a:srgbClr val="76B900"/>
            </a:solidFill>
            <a:prstDash val="solid"/>
          </a:ln>
        </p:spPr>
      </p:sp>
      <p:sp>
        <p:nvSpPr>
          <p:cNvPr id="22" name="Text 20"/>
          <p:cNvSpPr/>
          <p:nvPr/>
        </p:nvSpPr>
        <p:spPr>
          <a:xfrm>
            <a:off x="6766560" y="3264408"/>
            <a:ext cx="329184" cy="329184"/>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2</a:t>
            </a:r>
            <a:endParaRPr lang="en-US" sz="1400" dirty="0"/>
          </a:p>
        </p:txBody>
      </p:sp>
      <p:sp>
        <p:nvSpPr>
          <p:cNvPr id="23" name="Text 21"/>
          <p:cNvSpPr/>
          <p:nvPr/>
        </p:nvSpPr>
        <p:spPr>
          <a:xfrm>
            <a:off x="7223760" y="3273552"/>
            <a:ext cx="1371600" cy="310896"/>
          </a:xfrm>
          <a:prstGeom prst="rect">
            <a:avLst/>
          </a:prstGeom>
          <a:noFill/>
          <a:ln/>
        </p:spPr>
        <p:txBody>
          <a:bodyPr wrap="square" lIns="0" tIns="0" rIns="0" bIns="0" rtlCol="0" anchor="ctr"/>
          <a:lstStyle/>
          <a:p>
            <a:pPr indent="0" marL="0">
              <a:buNone/>
            </a:pPr>
            <a:r>
              <a:rPr lang="en-US" sz="1350" b="1" dirty="0">
                <a:solidFill>
                  <a:srgbClr val="76B900"/>
                </a:solidFill>
                <a:latin typeface="Arial" pitchFamily="34" charset="0"/>
                <a:ea typeface="Arial" pitchFamily="34" charset="-122"/>
                <a:cs typeface="Arial" pitchFamily="34" charset="-120"/>
              </a:rPr>
              <a:t>Décision</a:t>
            </a:r>
            <a:endParaRPr lang="en-US" sz="1350" dirty="0"/>
          </a:p>
        </p:txBody>
      </p:sp>
      <p:sp>
        <p:nvSpPr>
          <p:cNvPr id="24" name="Text 22"/>
          <p:cNvSpPr/>
          <p:nvPr/>
        </p:nvSpPr>
        <p:spPr>
          <a:xfrm>
            <a:off x="8503920" y="3291840"/>
            <a:ext cx="2926080" cy="310896"/>
          </a:xfrm>
          <a:prstGeom prst="rect">
            <a:avLst/>
          </a:prstGeom>
          <a:noFill/>
          <a:ln/>
        </p:spPr>
        <p:txBody>
          <a:bodyPr wrap="square" lIns="0" tIns="0" rIns="0" bIns="0" rtlCol="0" anchor="ctr"/>
          <a:lstStyle/>
          <a:p>
            <a:pPr indent="0" marL="0">
              <a:buNone/>
            </a:pPr>
            <a:r>
              <a:rPr lang="en-US" sz="1250" dirty="0">
                <a:solidFill>
                  <a:srgbClr val="9AA4AE"/>
                </a:solidFill>
                <a:latin typeface="Calibri" pitchFamily="34" charset="0"/>
                <a:ea typeface="Calibri" pitchFamily="34" charset="-122"/>
                <a:cs typeface="Calibri" pitchFamily="34" charset="-120"/>
              </a:rPr>
              <a:t>le modèle choisit ses outils</a:t>
            </a:r>
            <a:endParaRPr lang="en-US" sz="1250" dirty="0"/>
          </a:p>
        </p:txBody>
      </p:sp>
      <p:sp>
        <p:nvSpPr>
          <p:cNvPr id="25" name="Shape 23"/>
          <p:cNvSpPr/>
          <p:nvPr/>
        </p:nvSpPr>
        <p:spPr>
          <a:xfrm>
            <a:off x="6766560" y="3831336"/>
            <a:ext cx="329184" cy="329184"/>
          </a:xfrm>
          <a:prstGeom prst="ellipse">
            <a:avLst/>
          </a:prstGeom>
          <a:solidFill>
            <a:srgbClr val="76B900"/>
          </a:solidFill>
          <a:ln w="12700">
            <a:solidFill>
              <a:srgbClr val="76B900"/>
            </a:solidFill>
            <a:prstDash val="solid"/>
          </a:ln>
        </p:spPr>
      </p:sp>
      <p:sp>
        <p:nvSpPr>
          <p:cNvPr id="26" name="Text 24"/>
          <p:cNvSpPr/>
          <p:nvPr/>
        </p:nvSpPr>
        <p:spPr>
          <a:xfrm>
            <a:off x="6766560" y="3831336"/>
            <a:ext cx="329184" cy="329184"/>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3</a:t>
            </a:r>
            <a:endParaRPr lang="en-US" sz="1400" dirty="0"/>
          </a:p>
        </p:txBody>
      </p:sp>
      <p:sp>
        <p:nvSpPr>
          <p:cNvPr id="27" name="Text 25"/>
          <p:cNvSpPr/>
          <p:nvPr/>
        </p:nvSpPr>
        <p:spPr>
          <a:xfrm>
            <a:off x="7223760" y="3840480"/>
            <a:ext cx="1371600" cy="310896"/>
          </a:xfrm>
          <a:prstGeom prst="rect">
            <a:avLst/>
          </a:prstGeom>
          <a:noFill/>
          <a:ln/>
        </p:spPr>
        <p:txBody>
          <a:bodyPr wrap="square" lIns="0" tIns="0" rIns="0" bIns="0" rtlCol="0" anchor="ctr"/>
          <a:lstStyle/>
          <a:p>
            <a:pPr indent="0" marL="0">
              <a:buNone/>
            </a:pPr>
            <a:r>
              <a:rPr lang="en-US" sz="1350" b="1" dirty="0">
                <a:solidFill>
                  <a:srgbClr val="76B900"/>
                </a:solidFill>
                <a:latin typeface="Arial" pitchFamily="34" charset="0"/>
                <a:ea typeface="Arial" pitchFamily="34" charset="-122"/>
                <a:cs typeface="Arial" pitchFamily="34" charset="-120"/>
              </a:rPr>
              <a:t>Recherche</a:t>
            </a:r>
            <a:endParaRPr lang="en-US" sz="1350" dirty="0"/>
          </a:p>
        </p:txBody>
      </p:sp>
      <p:sp>
        <p:nvSpPr>
          <p:cNvPr id="28" name="Text 26"/>
          <p:cNvSpPr/>
          <p:nvPr/>
        </p:nvSpPr>
        <p:spPr>
          <a:xfrm>
            <a:off x="8503920" y="3858768"/>
            <a:ext cx="2926080" cy="310896"/>
          </a:xfrm>
          <a:prstGeom prst="rect">
            <a:avLst/>
          </a:prstGeom>
          <a:noFill/>
          <a:ln/>
        </p:spPr>
        <p:txBody>
          <a:bodyPr wrap="square" lIns="0" tIns="0" rIns="0" bIns="0" rtlCol="0" anchor="ctr"/>
          <a:lstStyle/>
          <a:p>
            <a:pPr indent="0" marL="0">
              <a:buNone/>
            </a:pPr>
            <a:r>
              <a:rPr lang="en-US" sz="1250" dirty="0">
                <a:solidFill>
                  <a:srgbClr val="9AA4AE"/>
                </a:solidFill>
                <a:latin typeface="Calibri" pitchFamily="34" charset="0"/>
                <a:ea typeface="Calibri" pitchFamily="34" charset="-122"/>
                <a:cs typeface="Calibri" pitchFamily="34" charset="-120"/>
              </a:rPr>
              <a:t>les outils interrogent la base</a:t>
            </a:r>
            <a:endParaRPr lang="en-US" sz="1250" dirty="0"/>
          </a:p>
        </p:txBody>
      </p:sp>
      <p:sp>
        <p:nvSpPr>
          <p:cNvPr id="29" name="Shape 27"/>
          <p:cNvSpPr/>
          <p:nvPr/>
        </p:nvSpPr>
        <p:spPr>
          <a:xfrm>
            <a:off x="6766560" y="4398264"/>
            <a:ext cx="329184" cy="329184"/>
          </a:xfrm>
          <a:prstGeom prst="ellipse">
            <a:avLst/>
          </a:prstGeom>
          <a:solidFill>
            <a:srgbClr val="76B900"/>
          </a:solidFill>
          <a:ln w="12700">
            <a:solidFill>
              <a:srgbClr val="76B900"/>
            </a:solidFill>
            <a:prstDash val="solid"/>
          </a:ln>
        </p:spPr>
      </p:sp>
      <p:sp>
        <p:nvSpPr>
          <p:cNvPr id="30" name="Text 28"/>
          <p:cNvSpPr/>
          <p:nvPr/>
        </p:nvSpPr>
        <p:spPr>
          <a:xfrm>
            <a:off x="6766560" y="4398264"/>
            <a:ext cx="329184" cy="329184"/>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4</a:t>
            </a:r>
            <a:endParaRPr lang="en-US" sz="1400" dirty="0"/>
          </a:p>
        </p:txBody>
      </p:sp>
      <p:sp>
        <p:nvSpPr>
          <p:cNvPr id="31" name="Text 29"/>
          <p:cNvSpPr/>
          <p:nvPr/>
        </p:nvSpPr>
        <p:spPr>
          <a:xfrm>
            <a:off x="7223760" y="4407408"/>
            <a:ext cx="1371600" cy="310896"/>
          </a:xfrm>
          <a:prstGeom prst="rect">
            <a:avLst/>
          </a:prstGeom>
          <a:noFill/>
          <a:ln/>
        </p:spPr>
        <p:txBody>
          <a:bodyPr wrap="square" lIns="0" tIns="0" rIns="0" bIns="0" rtlCol="0" anchor="ctr"/>
          <a:lstStyle/>
          <a:p>
            <a:pPr indent="0" marL="0">
              <a:buNone/>
            </a:pPr>
            <a:r>
              <a:rPr lang="en-US" sz="1350" b="1" dirty="0">
                <a:solidFill>
                  <a:srgbClr val="76B900"/>
                </a:solidFill>
                <a:latin typeface="Arial" pitchFamily="34" charset="0"/>
                <a:ea typeface="Arial" pitchFamily="34" charset="-122"/>
                <a:cs typeface="Arial" pitchFamily="34" charset="-120"/>
              </a:rPr>
              <a:t>Réponse</a:t>
            </a:r>
            <a:endParaRPr lang="en-US" sz="1350" dirty="0"/>
          </a:p>
        </p:txBody>
      </p:sp>
      <p:sp>
        <p:nvSpPr>
          <p:cNvPr id="32" name="Text 30"/>
          <p:cNvSpPr/>
          <p:nvPr/>
        </p:nvSpPr>
        <p:spPr>
          <a:xfrm>
            <a:off x="8503920" y="4425696"/>
            <a:ext cx="2926080" cy="310896"/>
          </a:xfrm>
          <a:prstGeom prst="rect">
            <a:avLst/>
          </a:prstGeom>
          <a:noFill/>
          <a:ln/>
        </p:spPr>
        <p:txBody>
          <a:bodyPr wrap="square" lIns="0" tIns="0" rIns="0" bIns="0" rtlCol="0" anchor="ctr"/>
          <a:lstStyle/>
          <a:p>
            <a:pPr indent="0" marL="0">
              <a:buNone/>
            </a:pPr>
            <a:r>
              <a:rPr lang="en-US" sz="1250" dirty="0">
                <a:solidFill>
                  <a:srgbClr val="9AA4AE"/>
                </a:solidFill>
                <a:latin typeface="Calibri" pitchFamily="34" charset="0"/>
                <a:ea typeface="Calibri" pitchFamily="34" charset="-122"/>
                <a:cs typeface="Calibri" pitchFamily="34" charset="-120"/>
              </a:rPr>
              <a:t>diffusée mot à mot</a:t>
            </a:r>
            <a:endParaRPr lang="en-US" sz="1250" dirty="0"/>
          </a:p>
        </p:txBody>
      </p:sp>
      <p:sp>
        <p:nvSpPr>
          <p:cNvPr id="33" name="Text 31"/>
          <p:cNvSpPr/>
          <p:nvPr/>
        </p:nvSpPr>
        <p:spPr>
          <a:xfrm>
            <a:off x="6766560" y="4892040"/>
            <a:ext cx="4480560" cy="457200"/>
          </a:xfrm>
          <a:prstGeom prst="rect">
            <a:avLst/>
          </a:prstGeom>
          <a:noFill/>
          <a:ln/>
        </p:spPr>
        <p:txBody>
          <a:bodyPr wrap="square" lIns="0" tIns="0" rIns="0" bIns="0" rtlCol="0" anchor="ctr"/>
          <a:lstStyle/>
          <a:p>
            <a:pPr indent="0" marL="0">
              <a:buNone/>
            </a:pPr>
            <a:r>
              <a:rPr lang="en-US" sz="1250" i="1" dirty="0">
                <a:solidFill>
                  <a:srgbClr val="8FD400"/>
                </a:solidFill>
                <a:latin typeface="Calibri" pitchFamily="34" charset="0"/>
                <a:ea typeface="Calibri" pitchFamily="34" charset="-122"/>
                <a:cs typeface="Calibri" pitchFamily="34" charset="-120"/>
              </a:rPr>
              <a:t>Les réponses ne s'appuient que sur les données retrouvées.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640080" y="411480"/>
            <a:ext cx="10908792" cy="68580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Modélisation UML</a:t>
            </a:r>
            <a:endParaRPr lang="en-US" sz="3400" dirty="0"/>
          </a:p>
        </p:txBody>
      </p:sp>
      <p:sp>
        <p:nvSpPr>
          <p:cNvPr id="3" name="Text 1"/>
          <p:cNvSpPr/>
          <p:nvPr/>
        </p:nvSpPr>
        <p:spPr>
          <a:xfrm>
            <a:off x="640080" y="1078992"/>
            <a:ext cx="10908792" cy="384048"/>
          </a:xfrm>
          <a:prstGeom prst="rect">
            <a:avLst/>
          </a:prstGeom>
          <a:noFill/>
          <a:ln/>
        </p:spPr>
        <p:txBody>
          <a:bodyPr wrap="square" lIns="0" tIns="0" rIns="0" bIns="0" rtlCol="0" anchor="ctr"/>
          <a:lstStyle/>
          <a:p>
            <a:pPr indent="0" marL="0">
              <a:buNone/>
            </a:pPr>
            <a:r>
              <a:rPr lang="en-US" sz="1400" dirty="0">
                <a:solidFill>
                  <a:srgbClr val="9AA4AE"/>
                </a:solidFill>
                <a:latin typeface="Calibri" pitchFamily="34" charset="0"/>
                <a:ea typeface="Calibri" pitchFamily="34" charset="-122"/>
                <a:cs typeface="Calibri" pitchFamily="34" charset="-120"/>
              </a:rPr>
              <a:t>Neuf diagrammes couvrant l'analyse et la conception</a:t>
            </a:r>
            <a:endParaRPr lang="en-US" sz="1400" dirty="0"/>
          </a:p>
        </p:txBody>
      </p:sp>
      <p:sp>
        <p:nvSpPr>
          <p:cNvPr id="4" name="Shape 2"/>
          <p:cNvSpPr/>
          <p:nvPr/>
        </p:nvSpPr>
        <p:spPr>
          <a:xfrm>
            <a:off x="640080" y="1783080"/>
            <a:ext cx="10908792" cy="3291840"/>
          </a:xfrm>
          <a:prstGeom prst="roundRect">
            <a:avLst>
              <a:gd name="adj" fmla="val 2500"/>
            </a:avLst>
          </a:prstGeom>
          <a:solidFill>
            <a:srgbClr val="FFFFFF"/>
          </a:solidFill>
          <a:ln w="12700">
            <a:solidFill>
              <a:srgbClr val="2A2A2A"/>
            </a:solidFill>
            <a:prstDash val="solid"/>
          </a:ln>
        </p:spPr>
      </p:sp>
      <p:pic>
        <p:nvPicPr>
          <p:cNvPr id="5" name="Image 0" descr="C:\Users\RAZER\Music\PFA\docs\uml\img\09-deploiement.png">    </p:cNvPr>
          <p:cNvPicPr>
            <a:picLocks noChangeAspect="1"/>
          </p:cNvPicPr>
          <p:nvPr/>
        </p:nvPicPr>
        <p:blipFill>
          <a:blip r:embed="rId1"/>
          <a:srcRect l="0" r="0" t="0" b="0"/>
          <a:stretch/>
        </p:blipFill>
        <p:spPr>
          <a:xfrm>
            <a:off x="868680" y="1938528"/>
            <a:ext cx="10451592" cy="2980944"/>
          </a:xfrm>
          <a:prstGeom prst="rect">
            <a:avLst/>
          </a:prstGeom>
        </p:spPr>
      </p:pic>
      <p:sp>
        <p:nvSpPr>
          <p:cNvPr id="6" name="Text 3"/>
          <p:cNvSpPr/>
          <p:nvPr/>
        </p:nvSpPr>
        <p:spPr>
          <a:xfrm>
            <a:off x="640080" y="5166360"/>
            <a:ext cx="6858000" cy="320040"/>
          </a:xfrm>
          <a:prstGeom prst="rect">
            <a:avLst/>
          </a:prstGeom>
          <a:noFill/>
          <a:ln/>
        </p:spPr>
        <p:txBody>
          <a:bodyPr wrap="square" lIns="0" tIns="0" rIns="0" bIns="0" rtlCol="0" anchor="ctr"/>
          <a:lstStyle/>
          <a:p>
            <a:pPr indent="0" marL="0">
              <a:buNone/>
            </a:pPr>
            <a:r>
              <a:rPr lang="en-US" sz="1200" dirty="0">
                <a:solidFill>
                  <a:srgbClr val="9AA4AE"/>
                </a:solidFill>
                <a:latin typeface="Calibri" pitchFamily="34" charset="0"/>
                <a:ea typeface="Calibri" pitchFamily="34" charset="-122"/>
                <a:cs typeface="Calibri" pitchFamily="34" charset="-120"/>
              </a:rPr>
              <a:t>Diagramme de déploiement — configuration de production</a:t>
            </a:r>
            <a:endParaRPr lang="en-US" sz="1200" dirty="0"/>
          </a:p>
        </p:txBody>
      </p:sp>
      <p:sp>
        <p:nvSpPr>
          <p:cNvPr id="7" name="Text 4"/>
          <p:cNvSpPr/>
          <p:nvPr/>
        </p:nvSpPr>
        <p:spPr>
          <a:xfrm>
            <a:off x="640080" y="5577840"/>
            <a:ext cx="10908792"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Cas d'utilisation · Classes · Séquence (3) · États-transitions · Activités · Composants · Déploiement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640080" y="411480"/>
            <a:ext cx="10908792" cy="68580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Qualité et industrialisation</a:t>
            </a:r>
            <a:endParaRPr lang="en-US" sz="3400" dirty="0"/>
          </a:p>
        </p:txBody>
      </p:sp>
      <p:sp>
        <p:nvSpPr>
          <p:cNvPr id="3" name="Text 1"/>
          <p:cNvSpPr/>
          <p:nvPr/>
        </p:nvSpPr>
        <p:spPr>
          <a:xfrm>
            <a:off x="640080" y="1078992"/>
            <a:ext cx="10908792" cy="384048"/>
          </a:xfrm>
          <a:prstGeom prst="rect">
            <a:avLst/>
          </a:prstGeom>
          <a:noFill/>
          <a:ln/>
        </p:spPr>
        <p:txBody>
          <a:bodyPr wrap="square" lIns="0" tIns="0" rIns="0" bIns="0" rtlCol="0" anchor="ctr"/>
          <a:lstStyle/>
          <a:p>
            <a:pPr indent="0" marL="0">
              <a:buNone/>
            </a:pPr>
            <a:r>
              <a:rPr lang="en-US" sz="1400" dirty="0">
                <a:solidFill>
                  <a:srgbClr val="9AA4AE"/>
                </a:solidFill>
                <a:latin typeface="Calibri" pitchFamily="34" charset="0"/>
                <a:ea typeface="Calibri" pitchFamily="34" charset="-122"/>
                <a:cs typeface="Calibri" pitchFamily="34" charset="-120"/>
              </a:rPr>
              <a:t>Ce qui protège le projet des régressions</a:t>
            </a:r>
            <a:endParaRPr lang="en-US" sz="1400" dirty="0"/>
          </a:p>
        </p:txBody>
      </p:sp>
      <p:graphicFrame>
        <p:nvGraphicFramePr>
          <p:cNvPr id="4" name="Chart 0" descr=""/>
          <p:cNvGraphicFramePr/>
          <p:nvPr/>
        </p:nvGraphicFramePr>
        <p:xfrm>
          <a:off x="640080" y="1828800"/>
          <a:ext cx="5486400" cy="3108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446520" y="1920240"/>
            <a:ext cx="5102352" cy="914400"/>
          </a:xfrm>
          <a:prstGeom prst="roundRect">
            <a:avLst>
              <a:gd name="adj" fmla="val 9000"/>
            </a:avLst>
          </a:prstGeom>
          <a:solidFill>
            <a:srgbClr val="18181A"/>
          </a:solidFill>
          <a:ln w="12700">
            <a:solidFill>
              <a:srgbClr val="2A2A2A"/>
            </a:solidFill>
            <a:prstDash val="solid"/>
          </a:ln>
        </p:spPr>
      </p:sp>
      <p:sp>
        <p:nvSpPr>
          <p:cNvPr id="6" name="Text 3"/>
          <p:cNvSpPr/>
          <p:nvPr/>
        </p:nvSpPr>
        <p:spPr>
          <a:xfrm>
            <a:off x="6720840" y="2048256"/>
            <a:ext cx="4572000" cy="292608"/>
          </a:xfrm>
          <a:prstGeom prst="rect">
            <a:avLst/>
          </a:prstGeom>
          <a:noFill/>
          <a:ln/>
        </p:spPr>
        <p:txBody>
          <a:bodyPr wrap="square" lIns="0" tIns="0" rIns="0" bIns="0" rtlCol="0" anchor="ctr"/>
          <a:lstStyle/>
          <a:p>
            <a:pPr indent="0" marL="0">
              <a:buNone/>
            </a:pPr>
            <a:r>
              <a:rPr lang="en-US" sz="1450" b="1" dirty="0">
                <a:solidFill>
                  <a:srgbClr val="76B900"/>
                </a:solidFill>
                <a:latin typeface="Arial" pitchFamily="34" charset="0"/>
                <a:ea typeface="Arial" pitchFamily="34" charset="-122"/>
                <a:cs typeface="Arial" pitchFamily="34" charset="-120"/>
              </a:rPr>
              <a:t>Intégration continue</a:t>
            </a:r>
            <a:endParaRPr lang="en-US" sz="1450" dirty="0"/>
          </a:p>
        </p:txBody>
      </p:sp>
      <p:sp>
        <p:nvSpPr>
          <p:cNvPr id="7" name="Text 4"/>
          <p:cNvSpPr/>
          <p:nvPr/>
        </p:nvSpPr>
        <p:spPr>
          <a:xfrm>
            <a:off x="6720840" y="2359152"/>
            <a:ext cx="4572000" cy="411480"/>
          </a:xfrm>
          <a:prstGeom prst="rect">
            <a:avLst/>
          </a:prstGeom>
          <a:noFill/>
          <a:ln/>
        </p:spPr>
        <p:txBody>
          <a:bodyPr wrap="square" lIns="0" tIns="0" rIns="0" bIns="0" rtlCol="0" anchor="ctr"/>
          <a:lstStyle/>
          <a:p>
            <a:pPr indent="0" marL="0">
              <a:buNone/>
            </a:pPr>
            <a:r>
              <a:rPr lang="en-US" sz="1200" dirty="0">
                <a:solidFill>
                  <a:srgbClr val="9AA4AE"/>
                </a:solidFill>
                <a:latin typeface="Calibri" pitchFamily="34" charset="0"/>
                <a:ea typeface="Calibri" pitchFamily="34" charset="-122"/>
                <a:cs typeface="Calibri" pitchFamily="34" charset="-120"/>
              </a:rPr>
              <a:t>Trois chaînes à chaque envoi : interface, API, backend Python.</a:t>
            </a:r>
            <a:endParaRPr lang="en-US" sz="1200" dirty="0"/>
          </a:p>
        </p:txBody>
      </p:sp>
      <p:sp>
        <p:nvSpPr>
          <p:cNvPr id="8" name="Shape 5"/>
          <p:cNvSpPr/>
          <p:nvPr/>
        </p:nvSpPr>
        <p:spPr>
          <a:xfrm>
            <a:off x="6446520" y="2971800"/>
            <a:ext cx="5102352" cy="914400"/>
          </a:xfrm>
          <a:prstGeom prst="roundRect">
            <a:avLst>
              <a:gd name="adj" fmla="val 9000"/>
            </a:avLst>
          </a:prstGeom>
          <a:solidFill>
            <a:srgbClr val="18181A"/>
          </a:solidFill>
          <a:ln w="12700">
            <a:solidFill>
              <a:srgbClr val="2A2A2A"/>
            </a:solidFill>
            <a:prstDash val="solid"/>
          </a:ln>
        </p:spPr>
      </p:sp>
      <p:sp>
        <p:nvSpPr>
          <p:cNvPr id="9" name="Text 6"/>
          <p:cNvSpPr/>
          <p:nvPr/>
        </p:nvSpPr>
        <p:spPr>
          <a:xfrm>
            <a:off x="6720840" y="3099816"/>
            <a:ext cx="4572000" cy="292608"/>
          </a:xfrm>
          <a:prstGeom prst="rect">
            <a:avLst/>
          </a:prstGeom>
          <a:noFill/>
          <a:ln/>
        </p:spPr>
        <p:txBody>
          <a:bodyPr wrap="square" lIns="0" tIns="0" rIns="0" bIns="0" rtlCol="0" anchor="ctr"/>
          <a:lstStyle/>
          <a:p>
            <a:pPr indent="0" marL="0">
              <a:buNone/>
            </a:pPr>
            <a:r>
              <a:rPr lang="en-US" sz="1450" b="1" dirty="0">
                <a:solidFill>
                  <a:srgbClr val="76B900"/>
                </a:solidFill>
                <a:latin typeface="Arial" pitchFamily="34" charset="0"/>
                <a:ea typeface="Arial" pitchFamily="34" charset="-122"/>
                <a:cs typeface="Arial" pitchFamily="34" charset="-120"/>
              </a:rPr>
              <a:t>Parité vérifiée</a:t>
            </a:r>
            <a:endParaRPr lang="en-US" sz="1450" dirty="0"/>
          </a:p>
        </p:txBody>
      </p:sp>
      <p:sp>
        <p:nvSpPr>
          <p:cNvPr id="10" name="Text 7"/>
          <p:cNvSpPr/>
          <p:nvPr/>
        </p:nvSpPr>
        <p:spPr>
          <a:xfrm>
            <a:off x="6720840" y="3410712"/>
            <a:ext cx="4572000" cy="411480"/>
          </a:xfrm>
          <a:prstGeom prst="rect">
            <a:avLst/>
          </a:prstGeom>
          <a:noFill/>
          <a:ln/>
        </p:spPr>
        <p:txBody>
          <a:bodyPr wrap="square" lIns="0" tIns="0" rIns="0" bIns="0" rtlCol="0" anchor="ctr"/>
          <a:lstStyle/>
          <a:p>
            <a:pPr indent="0" marL="0">
              <a:buNone/>
            </a:pPr>
            <a:r>
              <a:rPr lang="en-US" sz="1200" dirty="0">
                <a:solidFill>
                  <a:srgbClr val="9AA4AE"/>
                </a:solidFill>
                <a:latin typeface="Calibri" pitchFamily="34" charset="0"/>
                <a:ea typeface="Calibri" pitchFamily="34" charset="-122"/>
                <a:cs typeface="Calibri" pitchFamily="34" charset="-120"/>
              </a:rPr>
              <a:t>Le score existe en TypeScript et en Python : un jeu d'essai commun garantit le même résultat.</a:t>
            </a:r>
            <a:endParaRPr lang="en-US" sz="1200" dirty="0"/>
          </a:p>
        </p:txBody>
      </p:sp>
      <p:sp>
        <p:nvSpPr>
          <p:cNvPr id="11" name="Shape 8"/>
          <p:cNvSpPr/>
          <p:nvPr/>
        </p:nvSpPr>
        <p:spPr>
          <a:xfrm>
            <a:off x="6446520" y="4023360"/>
            <a:ext cx="5102352" cy="914400"/>
          </a:xfrm>
          <a:prstGeom prst="roundRect">
            <a:avLst>
              <a:gd name="adj" fmla="val 9000"/>
            </a:avLst>
          </a:prstGeom>
          <a:solidFill>
            <a:srgbClr val="18181A"/>
          </a:solidFill>
          <a:ln w="12700">
            <a:solidFill>
              <a:srgbClr val="2A2A2A"/>
            </a:solidFill>
            <a:prstDash val="solid"/>
          </a:ln>
        </p:spPr>
      </p:sp>
      <p:sp>
        <p:nvSpPr>
          <p:cNvPr id="12" name="Text 9"/>
          <p:cNvSpPr/>
          <p:nvPr/>
        </p:nvSpPr>
        <p:spPr>
          <a:xfrm>
            <a:off x="6720840" y="4151376"/>
            <a:ext cx="4572000" cy="292608"/>
          </a:xfrm>
          <a:prstGeom prst="rect">
            <a:avLst/>
          </a:prstGeom>
          <a:noFill/>
          <a:ln/>
        </p:spPr>
        <p:txBody>
          <a:bodyPr wrap="square" lIns="0" tIns="0" rIns="0" bIns="0" rtlCol="0" anchor="ctr"/>
          <a:lstStyle/>
          <a:p>
            <a:pPr indent="0" marL="0">
              <a:buNone/>
            </a:pPr>
            <a:r>
              <a:rPr lang="en-US" sz="1450" b="1" dirty="0">
                <a:solidFill>
                  <a:srgbClr val="76B900"/>
                </a:solidFill>
                <a:latin typeface="Arial" pitchFamily="34" charset="0"/>
                <a:ea typeface="Arial" pitchFamily="34" charset="-122"/>
                <a:cs typeface="Arial" pitchFamily="34" charset="-120"/>
              </a:rPr>
              <a:t>Migrations versionnées</a:t>
            </a:r>
            <a:endParaRPr lang="en-US" sz="1450" dirty="0"/>
          </a:p>
        </p:txBody>
      </p:sp>
      <p:sp>
        <p:nvSpPr>
          <p:cNvPr id="13" name="Text 10"/>
          <p:cNvSpPr/>
          <p:nvPr/>
        </p:nvSpPr>
        <p:spPr>
          <a:xfrm>
            <a:off x="6720840" y="4462272"/>
            <a:ext cx="4572000" cy="411480"/>
          </a:xfrm>
          <a:prstGeom prst="rect">
            <a:avLst/>
          </a:prstGeom>
          <a:noFill/>
          <a:ln/>
        </p:spPr>
        <p:txBody>
          <a:bodyPr wrap="square" lIns="0" tIns="0" rIns="0" bIns="0" rtlCol="0" anchor="ctr"/>
          <a:lstStyle/>
          <a:p>
            <a:pPr indent="0" marL="0">
              <a:buNone/>
            </a:pPr>
            <a:r>
              <a:rPr lang="en-US" sz="1200" dirty="0">
                <a:solidFill>
                  <a:srgbClr val="9AA4AE"/>
                </a:solidFill>
                <a:latin typeface="Calibri" pitchFamily="34" charset="0"/>
                <a:ea typeface="Calibri" pitchFamily="34" charset="-122"/>
                <a:cs typeface="Calibri" pitchFamily="34" charset="-120"/>
              </a:rPr>
              <a:t>11 migrations SQL, rejouables, avec la sécurité au niveau des lignes activée partout.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640080" y="411480"/>
            <a:ext cx="10908792" cy="68580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Ce qui est livré</a:t>
            </a:r>
            <a:endParaRPr lang="en-US" sz="3400" dirty="0"/>
          </a:p>
        </p:txBody>
      </p:sp>
      <p:sp>
        <p:nvSpPr>
          <p:cNvPr id="3" name="Text 1"/>
          <p:cNvSpPr/>
          <p:nvPr/>
        </p:nvSpPr>
        <p:spPr>
          <a:xfrm>
            <a:off x="640080" y="1078992"/>
            <a:ext cx="10908792" cy="384048"/>
          </a:xfrm>
          <a:prstGeom prst="rect">
            <a:avLst/>
          </a:prstGeom>
          <a:noFill/>
          <a:ln/>
        </p:spPr>
        <p:txBody>
          <a:bodyPr wrap="square" lIns="0" tIns="0" rIns="0" bIns="0" rtlCol="0" anchor="ctr"/>
          <a:lstStyle/>
          <a:p>
            <a:pPr indent="0" marL="0">
              <a:buNone/>
            </a:pPr>
            <a:r>
              <a:rPr lang="en-US" sz="1400" dirty="0">
                <a:solidFill>
                  <a:srgbClr val="9AA4AE"/>
                </a:solidFill>
                <a:latin typeface="Calibri" pitchFamily="34" charset="0"/>
                <a:ea typeface="Calibri" pitchFamily="34" charset="-122"/>
                <a:cs typeface="Calibri" pitchFamily="34" charset="-120"/>
              </a:rPr>
              <a:t>Application en production, fonctionnalités opérationnelles</a:t>
            </a:r>
            <a:endParaRPr lang="en-US" sz="1400" dirty="0"/>
          </a:p>
        </p:txBody>
      </p:sp>
      <p:sp>
        <p:nvSpPr>
          <p:cNvPr id="4" name="Shape 2"/>
          <p:cNvSpPr/>
          <p:nvPr/>
        </p:nvSpPr>
        <p:spPr>
          <a:xfrm>
            <a:off x="640080" y="1828800"/>
            <a:ext cx="3520440" cy="1691640"/>
          </a:xfrm>
          <a:prstGeom prst="roundRect">
            <a:avLst>
              <a:gd name="adj" fmla="val 4865"/>
            </a:avLst>
          </a:prstGeom>
          <a:solidFill>
            <a:srgbClr val="18181A"/>
          </a:solidFill>
          <a:ln w="12700">
            <a:solidFill>
              <a:srgbClr val="2A2A2A"/>
            </a:solidFill>
            <a:prstDash val="solid"/>
          </a:ln>
        </p:spPr>
      </p:sp>
      <p:sp>
        <p:nvSpPr>
          <p:cNvPr id="5" name="Shape 3"/>
          <p:cNvSpPr/>
          <p:nvPr/>
        </p:nvSpPr>
        <p:spPr>
          <a:xfrm>
            <a:off x="932688" y="2103120"/>
            <a:ext cx="274320" cy="274320"/>
          </a:xfrm>
          <a:prstGeom prst="ellipse">
            <a:avLst/>
          </a:prstGeom>
          <a:solidFill>
            <a:srgbClr val="76B900"/>
          </a:solidFill>
          <a:ln w="12700">
            <a:solidFill>
              <a:srgbClr val="76B900"/>
            </a:solidFill>
            <a:prstDash val="solid"/>
          </a:ln>
        </p:spPr>
      </p:sp>
      <p:sp>
        <p:nvSpPr>
          <p:cNvPr id="6" name="Text 4"/>
          <p:cNvSpPr/>
          <p:nvPr/>
        </p:nvSpPr>
        <p:spPr>
          <a:xfrm>
            <a:off x="932688" y="2103120"/>
            <a:ext cx="274320" cy="274320"/>
          </a:xfrm>
          <a:prstGeom prst="rect">
            <a:avLst/>
          </a:prstGeom>
          <a:noFill/>
          <a:ln/>
        </p:spPr>
        <p:txBody>
          <a:bodyPr wrap="square" lIns="0" tIns="0" rIns="0" bIns="0" rtlCol="0" anchor="ctr"/>
          <a:lstStyle/>
          <a:p>
            <a:pPr algn="ctr" indent="0" marL="0">
              <a:buNone/>
            </a:pPr>
            <a:r>
              <a:rPr lang="en-US" sz="1200" b="1" dirty="0">
                <a:solidFill>
                  <a:srgbClr val="0A0A0A"/>
                </a:solidFill>
                <a:latin typeface="Arial" pitchFamily="34" charset="0"/>
                <a:ea typeface="Arial" pitchFamily="34" charset="-122"/>
                <a:cs typeface="Arial" pitchFamily="34" charset="-120"/>
              </a:rPr>
              <a:t>✓</a:t>
            </a:r>
            <a:endParaRPr lang="en-US" sz="1200" dirty="0"/>
          </a:p>
        </p:txBody>
      </p:sp>
      <p:sp>
        <p:nvSpPr>
          <p:cNvPr id="7" name="Text 5"/>
          <p:cNvSpPr/>
          <p:nvPr/>
        </p:nvSpPr>
        <p:spPr>
          <a:xfrm>
            <a:off x="1298448" y="2066544"/>
            <a:ext cx="2651760" cy="3474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Portail public</a:t>
            </a:r>
            <a:endParaRPr lang="en-US" sz="1450" dirty="0"/>
          </a:p>
        </p:txBody>
      </p:sp>
      <p:sp>
        <p:nvSpPr>
          <p:cNvPr id="8" name="Text 6"/>
          <p:cNvSpPr/>
          <p:nvPr/>
        </p:nvSpPr>
        <p:spPr>
          <a:xfrm>
            <a:off x="932688" y="2542032"/>
            <a:ext cx="2926080" cy="822960"/>
          </a:xfrm>
          <a:prstGeom prst="rect">
            <a:avLst/>
          </a:prstGeom>
          <a:noFill/>
          <a:ln/>
        </p:spPr>
        <p:txBody>
          <a:bodyPr wrap="square" lIns="0" tIns="0" rIns="0" bIns="0" rtlCol="0" anchor="ctr"/>
          <a:lstStyle/>
          <a:p>
            <a:pPr indent="0" marL="0">
              <a:lnSpc>
                <a:spcPts val="1500"/>
              </a:lnSpc>
              <a:buNone/>
            </a:pPr>
            <a:r>
              <a:rPr lang="en-US" sz="1200" dirty="0">
                <a:solidFill>
                  <a:srgbClr val="9AA4AE"/>
                </a:solidFill>
                <a:latin typeface="Calibri" pitchFamily="34" charset="0"/>
                <a:ea typeface="Calibri" pitchFamily="34" charset="-122"/>
                <a:cs typeface="Calibri" pitchFamily="34" charset="-120"/>
              </a:rPr>
              <a:t>Consultation des offres, candidature avec CV et période souhaitée.</a:t>
            </a:r>
            <a:endParaRPr lang="en-US" sz="1200" dirty="0"/>
          </a:p>
        </p:txBody>
      </p:sp>
      <p:sp>
        <p:nvSpPr>
          <p:cNvPr id="9" name="Shape 7"/>
          <p:cNvSpPr/>
          <p:nvPr/>
        </p:nvSpPr>
        <p:spPr>
          <a:xfrm>
            <a:off x="4434840" y="1828800"/>
            <a:ext cx="3520440" cy="1691640"/>
          </a:xfrm>
          <a:prstGeom prst="roundRect">
            <a:avLst>
              <a:gd name="adj" fmla="val 4865"/>
            </a:avLst>
          </a:prstGeom>
          <a:solidFill>
            <a:srgbClr val="18181A"/>
          </a:solidFill>
          <a:ln w="12700">
            <a:solidFill>
              <a:srgbClr val="2A2A2A"/>
            </a:solidFill>
            <a:prstDash val="solid"/>
          </a:ln>
        </p:spPr>
      </p:sp>
      <p:sp>
        <p:nvSpPr>
          <p:cNvPr id="10" name="Shape 8"/>
          <p:cNvSpPr/>
          <p:nvPr/>
        </p:nvSpPr>
        <p:spPr>
          <a:xfrm>
            <a:off x="4727448" y="2103120"/>
            <a:ext cx="274320" cy="274320"/>
          </a:xfrm>
          <a:prstGeom prst="ellipse">
            <a:avLst/>
          </a:prstGeom>
          <a:solidFill>
            <a:srgbClr val="76B900"/>
          </a:solidFill>
          <a:ln w="12700">
            <a:solidFill>
              <a:srgbClr val="76B900"/>
            </a:solidFill>
            <a:prstDash val="solid"/>
          </a:ln>
        </p:spPr>
      </p:sp>
      <p:sp>
        <p:nvSpPr>
          <p:cNvPr id="11" name="Text 9"/>
          <p:cNvSpPr/>
          <p:nvPr/>
        </p:nvSpPr>
        <p:spPr>
          <a:xfrm>
            <a:off x="4727448" y="2103120"/>
            <a:ext cx="274320" cy="274320"/>
          </a:xfrm>
          <a:prstGeom prst="rect">
            <a:avLst/>
          </a:prstGeom>
          <a:noFill/>
          <a:ln/>
        </p:spPr>
        <p:txBody>
          <a:bodyPr wrap="square" lIns="0" tIns="0" rIns="0" bIns="0" rtlCol="0" anchor="ctr"/>
          <a:lstStyle/>
          <a:p>
            <a:pPr algn="ctr" indent="0" marL="0">
              <a:buNone/>
            </a:pPr>
            <a:r>
              <a:rPr lang="en-US" sz="1200" b="1" dirty="0">
                <a:solidFill>
                  <a:srgbClr val="0A0A0A"/>
                </a:solidFill>
                <a:latin typeface="Arial" pitchFamily="34" charset="0"/>
                <a:ea typeface="Arial" pitchFamily="34" charset="-122"/>
                <a:cs typeface="Arial" pitchFamily="34" charset="-120"/>
              </a:rPr>
              <a:t>✓</a:t>
            </a:r>
            <a:endParaRPr lang="en-US" sz="1200" dirty="0"/>
          </a:p>
        </p:txBody>
      </p:sp>
      <p:sp>
        <p:nvSpPr>
          <p:cNvPr id="12" name="Text 10"/>
          <p:cNvSpPr/>
          <p:nvPr/>
        </p:nvSpPr>
        <p:spPr>
          <a:xfrm>
            <a:off x="5093208" y="2066544"/>
            <a:ext cx="2651760" cy="3474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Espace candidat</a:t>
            </a:r>
            <a:endParaRPr lang="en-US" sz="1450" dirty="0"/>
          </a:p>
        </p:txBody>
      </p:sp>
      <p:sp>
        <p:nvSpPr>
          <p:cNvPr id="13" name="Text 11"/>
          <p:cNvSpPr/>
          <p:nvPr/>
        </p:nvSpPr>
        <p:spPr>
          <a:xfrm>
            <a:off x="4727448" y="2542032"/>
            <a:ext cx="2926080" cy="822960"/>
          </a:xfrm>
          <a:prstGeom prst="rect">
            <a:avLst/>
          </a:prstGeom>
          <a:noFill/>
          <a:ln/>
        </p:spPr>
        <p:txBody>
          <a:bodyPr wrap="square" lIns="0" tIns="0" rIns="0" bIns="0" rtlCol="0" anchor="ctr"/>
          <a:lstStyle/>
          <a:p>
            <a:pPr indent="0" marL="0">
              <a:lnSpc>
                <a:spcPts val="1500"/>
              </a:lnSpc>
              <a:buNone/>
            </a:pPr>
            <a:r>
              <a:rPr lang="en-US" sz="1200" dirty="0">
                <a:solidFill>
                  <a:srgbClr val="9AA4AE"/>
                </a:solidFill>
                <a:latin typeface="Calibri" pitchFamily="34" charset="0"/>
                <a:ea typeface="Calibri" pitchFamily="34" charset="-122"/>
                <a:cs typeface="Calibri" pitchFamily="34" charset="-120"/>
              </a:rPr>
              <a:t>Suivi de l'avancement de chaque candidature.</a:t>
            </a:r>
            <a:endParaRPr lang="en-US" sz="1200" dirty="0"/>
          </a:p>
        </p:txBody>
      </p:sp>
      <p:sp>
        <p:nvSpPr>
          <p:cNvPr id="14" name="Shape 12"/>
          <p:cNvSpPr/>
          <p:nvPr/>
        </p:nvSpPr>
        <p:spPr>
          <a:xfrm>
            <a:off x="8229600" y="1828800"/>
            <a:ext cx="3520440" cy="1691640"/>
          </a:xfrm>
          <a:prstGeom prst="roundRect">
            <a:avLst>
              <a:gd name="adj" fmla="val 4865"/>
            </a:avLst>
          </a:prstGeom>
          <a:solidFill>
            <a:srgbClr val="18181A"/>
          </a:solidFill>
          <a:ln w="12700">
            <a:solidFill>
              <a:srgbClr val="2A2A2A"/>
            </a:solidFill>
            <a:prstDash val="solid"/>
          </a:ln>
        </p:spPr>
      </p:sp>
      <p:sp>
        <p:nvSpPr>
          <p:cNvPr id="15" name="Shape 13"/>
          <p:cNvSpPr/>
          <p:nvPr/>
        </p:nvSpPr>
        <p:spPr>
          <a:xfrm>
            <a:off x="8522208" y="2103120"/>
            <a:ext cx="274320" cy="274320"/>
          </a:xfrm>
          <a:prstGeom prst="ellipse">
            <a:avLst/>
          </a:prstGeom>
          <a:solidFill>
            <a:srgbClr val="76B900"/>
          </a:solidFill>
          <a:ln w="12700">
            <a:solidFill>
              <a:srgbClr val="76B900"/>
            </a:solidFill>
            <a:prstDash val="solid"/>
          </a:ln>
        </p:spPr>
      </p:sp>
      <p:sp>
        <p:nvSpPr>
          <p:cNvPr id="16" name="Text 14"/>
          <p:cNvSpPr/>
          <p:nvPr/>
        </p:nvSpPr>
        <p:spPr>
          <a:xfrm>
            <a:off x="8522208" y="2103120"/>
            <a:ext cx="274320" cy="274320"/>
          </a:xfrm>
          <a:prstGeom prst="rect">
            <a:avLst/>
          </a:prstGeom>
          <a:noFill/>
          <a:ln/>
        </p:spPr>
        <p:txBody>
          <a:bodyPr wrap="square" lIns="0" tIns="0" rIns="0" bIns="0" rtlCol="0" anchor="ctr"/>
          <a:lstStyle/>
          <a:p>
            <a:pPr algn="ctr" indent="0" marL="0">
              <a:buNone/>
            </a:pPr>
            <a:r>
              <a:rPr lang="en-US" sz="1200" b="1" dirty="0">
                <a:solidFill>
                  <a:srgbClr val="0A0A0A"/>
                </a:solidFill>
                <a:latin typeface="Arial" pitchFamily="34" charset="0"/>
                <a:ea typeface="Arial" pitchFamily="34" charset="-122"/>
                <a:cs typeface="Arial" pitchFamily="34" charset="-120"/>
              </a:rPr>
              <a:t>✓</a:t>
            </a:r>
            <a:endParaRPr lang="en-US" sz="1200" dirty="0"/>
          </a:p>
        </p:txBody>
      </p:sp>
      <p:sp>
        <p:nvSpPr>
          <p:cNvPr id="17" name="Text 15"/>
          <p:cNvSpPr/>
          <p:nvPr/>
        </p:nvSpPr>
        <p:spPr>
          <a:xfrm>
            <a:off x="8887968" y="2066544"/>
            <a:ext cx="2651760" cy="3474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Tableau de bord</a:t>
            </a:r>
            <a:endParaRPr lang="en-US" sz="1450" dirty="0"/>
          </a:p>
        </p:txBody>
      </p:sp>
      <p:sp>
        <p:nvSpPr>
          <p:cNvPr id="18" name="Text 16"/>
          <p:cNvSpPr/>
          <p:nvPr/>
        </p:nvSpPr>
        <p:spPr>
          <a:xfrm>
            <a:off x="8522208" y="2542032"/>
            <a:ext cx="2926080" cy="822960"/>
          </a:xfrm>
          <a:prstGeom prst="rect">
            <a:avLst/>
          </a:prstGeom>
          <a:noFill/>
          <a:ln/>
        </p:spPr>
        <p:txBody>
          <a:bodyPr wrap="square" lIns="0" tIns="0" rIns="0" bIns="0" rtlCol="0" anchor="ctr"/>
          <a:lstStyle/>
          <a:p>
            <a:pPr indent="0" marL="0">
              <a:lnSpc>
                <a:spcPts val="1500"/>
              </a:lnSpc>
              <a:buNone/>
            </a:pPr>
            <a:r>
              <a:rPr lang="en-US" sz="1200" dirty="0">
                <a:solidFill>
                  <a:srgbClr val="9AA4AE"/>
                </a:solidFill>
                <a:latin typeface="Calibri" pitchFamily="34" charset="0"/>
                <a:ea typeface="Calibri" pitchFamily="34" charset="-122"/>
                <a:cs typeface="Calibri" pitchFamily="34" charset="-120"/>
              </a:rPr>
              <a:t>Indicateurs et graphiques sur l'ensemble de la campagne.</a:t>
            </a:r>
            <a:endParaRPr lang="en-US" sz="1200" dirty="0"/>
          </a:p>
        </p:txBody>
      </p:sp>
      <p:sp>
        <p:nvSpPr>
          <p:cNvPr id="19" name="Shape 17"/>
          <p:cNvSpPr/>
          <p:nvPr/>
        </p:nvSpPr>
        <p:spPr>
          <a:xfrm>
            <a:off x="640080" y="3794760"/>
            <a:ext cx="3520440" cy="1691640"/>
          </a:xfrm>
          <a:prstGeom prst="roundRect">
            <a:avLst>
              <a:gd name="adj" fmla="val 4865"/>
            </a:avLst>
          </a:prstGeom>
          <a:solidFill>
            <a:srgbClr val="18181A"/>
          </a:solidFill>
          <a:ln w="12700">
            <a:solidFill>
              <a:srgbClr val="2A2A2A"/>
            </a:solidFill>
            <a:prstDash val="solid"/>
          </a:ln>
        </p:spPr>
      </p:sp>
      <p:sp>
        <p:nvSpPr>
          <p:cNvPr id="20" name="Shape 18"/>
          <p:cNvSpPr/>
          <p:nvPr/>
        </p:nvSpPr>
        <p:spPr>
          <a:xfrm>
            <a:off x="932688" y="4069080"/>
            <a:ext cx="274320" cy="274320"/>
          </a:xfrm>
          <a:prstGeom prst="ellipse">
            <a:avLst/>
          </a:prstGeom>
          <a:solidFill>
            <a:srgbClr val="76B900"/>
          </a:solidFill>
          <a:ln w="12700">
            <a:solidFill>
              <a:srgbClr val="76B900"/>
            </a:solidFill>
            <a:prstDash val="solid"/>
          </a:ln>
        </p:spPr>
      </p:sp>
      <p:sp>
        <p:nvSpPr>
          <p:cNvPr id="21" name="Text 19"/>
          <p:cNvSpPr/>
          <p:nvPr/>
        </p:nvSpPr>
        <p:spPr>
          <a:xfrm>
            <a:off x="932688" y="4069080"/>
            <a:ext cx="274320" cy="274320"/>
          </a:xfrm>
          <a:prstGeom prst="rect">
            <a:avLst/>
          </a:prstGeom>
          <a:noFill/>
          <a:ln/>
        </p:spPr>
        <p:txBody>
          <a:bodyPr wrap="square" lIns="0" tIns="0" rIns="0" bIns="0" rtlCol="0" anchor="ctr"/>
          <a:lstStyle/>
          <a:p>
            <a:pPr algn="ctr" indent="0" marL="0">
              <a:buNone/>
            </a:pPr>
            <a:r>
              <a:rPr lang="en-US" sz="1200" b="1" dirty="0">
                <a:solidFill>
                  <a:srgbClr val="0A0A0A"/>
                </a:solidFill>
                <a:latin typeface="Arial" pitchFamily="34" charset="0"/>
                <a:ea typeface="Arial" pitchFamily="34" charset="-122"/>
                <a:cs typeface="Arial" pitchFamily="34" charset="-120"/>
              </a:rPr>
              <a:t>✓</a:t>
            </a:r>
            <a:endParaRPr lang="en-US" sz="1200" dirty="0"/>
          </a:p>
        </p:txBody>
      </p:sp>
      <p:sp>
        <p:nvSpPr>
          <p:cNvPr id="22" name="Text 20"/>
          <p:cNvSpPr/>
          <p:nvPr/>
        </p:nvSpPr>
        <p:spPr>
          <a:xfrm>
            <a:off x="1298448" y="4032504"/>
            <a:ext cx="2651760" cy="3474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Affectation IA</a:t>
            </a:r>
            <a:endParaRPr lang="en-US" sz="1450" dirty="0"/>
          </a:p>
        </p:txBody>
      </p:sp>
      <p:sp>
        <p:nvSpPr>
          <p:cNvPr id="23" name="Text 21"/>
          <p:cNvSpPr/>
          <p:nvPr/>
        </p:nvSpPr>
        <p:spPr>
          <a:xfrm>
            <a:off x="932688" y="4507992"/>
            <a:ext cx="2926080" cy="822960"/>
          </a:xfrm>
          <a:prstGeom prst="rect">
            <a:avLst/>
          </a:prstGeom>
          <a:noFill/>
          <a:ln/>
        </p:spPr>
        <p:txBody>
          <a:bodyPr wrap="square" lIns="0" tIns="0" rIns="0" bIns="0" rtlCol="0" anchor="ctr"/>
          <a:lstStyle/>
          <a:p>
            <a:pPr indent="0" marL="0">
              <a:lnSpc>
                <a:spcPts val="1500"/>
              </a:lnSpc>
              <a:buNone/>
            </a:pPr>
            <a:r>
              <a:rPr lang="en-US" sz="1200" dirty="0">
                <a:solidFill>
                  <a:srgbClr val="9AA4AE"/>
                </a:solidFill>
                <a:latin typeface="Calibri" pitchFamily="34" charset="0"/>
                <a:ea typeface="Calibri" pitchFamily="34" charset="-122"/>
                <a:cs typeface="Calibri" pitchFamily="34" charset="-120"/>
              </a:rPr>
              <a:t>Optimisation globale, score détaillé, validation par le recruteur.</a:t>
            </a:r>
            <a:endParaRPr lang="en-US" sz="1200" dirty="0"/>
          </a:p>
        </p:txBody>
      </p:sp>
      <p:sp>
        <p:nvSpPr>
          <p:cNvPr id="24" name="Shape 22"/>
          <p:cNvSpPr/>
          <p:nvPr/>
        </p:nvSpPr>
        <p:spPr>
          <a:xfrm>
            <a:off x="4434840" y="3794760"/>
            <a:ext cx="3520440" cy="1691640"/>
          </a:xfrm>
          <a:prstGeom prst="roundRect">
            <a:avLst>
              <a:gd name="adj" fmla="val 4865"/>
            </a:avLst>
          </a:prstGeom>
          <a:solidFill>
            <a:srgbClr val="18181A"/>
          </a:solidFill>
          <a:ln w="12700">
            <a:solidFill>
              <a:srgbClr val="2A2A2A"/>
            </a:solidFill>
            <a:prstDash val="solid"/>
          </a:ln>
        </p:spPr>
      </p:sp>
      <p:sp>
        <p:nvSpPr>
          <p:cNvPr id="25" name="Shape 23"/>
          <p:cNvSpPr/>
          <p:nvPr/>
        </p:nvSpPr>
        <p:spPr>
          <a:xfrm>
            <a:off x="4727448" y="4069080"/>
            <a:ext cx="274320" cy="274320"/>
          </a:xfrm>
          <a:prstGeom prst="ellipse">
            <a:avLst/>
          </a:prstGeom>
          <a:solidFill>
            <a:srgbClr val="76B900"/>
          </a:solidFill>
          <a:ln w="12700">
            <a:solidFill>
              <a:srgbClr val="76B900"/>
            </a:solidFill>
            <a:prstDash val="solid"/>
          </a:ln>
        </p:spPr>
      </p:sp>
      <p:sp>
        <p:nvSpPr>
          <p:cNvPr id="26" name="Text 24"/>
          <p:cNvSpPr/>
          <p:nvPr/>
        </p:nvSpPr>
        <p:spPr>
          <a:xfrm>
            <a:off x="4727448" y="4069080"/>
            <a:ext cx="274320" cy="274320"/>
          </a:xfrm>
          <a:prstGeom prst="rect">
            <a:avLst/>
          </a:prstGeom>
          <a:noFill/>
          <a:ln/>
        </p:spPr>
        <p:txBody>
          <a:bodyPr wrap="square" lIns="0" tIns="0" rIns="0" bIns="0" rtlCol="0" anchor="ctr"/>
          <a:lstStyle/>
          <a:p>
            <a:pPr algn="ctr" indent="0" marL="0">
              <a:buNone/>
            </a:pPr>
            <a:r>
              <a:rPr lang="en-US" sz="1200" b="1" dirty="0">
                <a:solidFill>
                  <a:srgbClr val="0A0A0A"/>
                </a:solidFill>
                <a:latin typeface="Arial" pitchFamily="34" charset="0"/>
                <a:ea typeface="Arial" pitchFamily="34" charset="-122"/>
                <a:cs typeface="Arial" pitchFamily="34" charset="-120"/>
              </a:rPr>
              <a:t>✓</a:t>
            </a:r>
            <a:endParaRPr lang="en-US" sz="1200" dirty="0"/>
          </a:p>
        </p:txBody>
      </p:sp>
      <p:sp>
        <p:nvSpPr>
          <p:cNvPr id="27" name="Text 25"/>
          <p:cNvSpPr/>
          <p:nvPr/>
        </p:nvSpPr>
        <p:spPr>
          <a:xfrm>
            <a:off x="5093208" y="4032504"/>
            <a:ext cx="2651760" cy="3474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Offres réservées</a:t>
            </a:r>
            <a:endParaRPr lang="en-US" sz="1450" dirty="0"/>
          </a:p>
        </p:txBody>
      </p:sp>
      <p:sp>
        <p:nvSpPr>
          <p:cNvPr id="28" name="Text 26"/>
          <p:cNvSpPr/>
          <p:nvPr/>
        </p:nvSpPr>
        <p:spPr>
          <a:xfrm>
            <a:off x="4727448" y="4507992"/>
            <a:ext cx="2926080" cy="822960"/>
          </a:xfrm>
          <a:prstGeom prst="rect">
            <a:avLst/>
          </a:prstGeom>
          <a:noFill/>
          <a:ln/>
        </p:spPr>
        <p:txBody>
          <a:bodyPr wrap="square" lIns="0" tIns="0" rIns="0" bIns="0" rtlCol="0" anchor="ctr"/>
          <a:lstStyle/>
          <a:p>
            <a:pPr indent="0" marL="0">
              <a:lnSpc>
                <a:spcPts val="1500"/>
              </a:lnSpc>
              <a:buNone/>
            </a:pPr>
            <a:r>
              <a:rPr lang="en-US" sz="1200" dirty="0">
                <a:solidFill>
                  <a:srgbClr val="9AA4AE"/>
                </a:solidFill>
                <a:latin typeface="Calibri" pitchFamily="34" charset="0"/>
                <a:ea typeface="Calibri" pitchFamily="34" charset="-122"/>
                <a:cs typeface="Calibri" pitchFamily="34" charset="-120"/>
              </a:rPr>
              <a:t>Places occupées par période, groupées par mois.</a:t>
            </a:r>
            <a:endParaRPr lang="en-US" sz="1200" dirty="0"/>
          </a:p>
        </p:txBody>
      </p:sp>
      <p:sp>
        <p:nvSpPr>
          <p:cNvPr id="29" name="Shape 27"/>
          <p:cNvSpPr/>
          <p:nvPr/>
        </p:nvSpPr>
        <p:spPr>
          <a:xfrm>
            <a:off x="8229600" y="3794760"/>
            <a:ext cx="3520440" cy="1691640"/>
          </a:xfrm>
          <a:prstGeom prst="roundRect">
            <a:avLst>
              <a:gd name="adj" fmla="val 4865"/>
            </a:avLst>
          </a:prstGeom>
          <a:solidFill>
            <a:srgbClr val="18181A"/>
          </a:solidFill>
          <a:ln w="12700">
            <a:solidFill>
              <a:srgbClr val="2A2A2A"/>
            </a:solidFill>
            <a:prstDash val="solid"/>
          </a:ln>
        </p:spPr>
      </p:sp>
      <p:sp>
        <p:nvSpPr>
          <p:cNvPr id="30" name="Shape 28"/>
          <p:cNvSpPr/>
          <p:nvPr/>
        </p:nvSpPr>
        <p:spPr>
          <a:xfrm>
            <a:off x="8522208" y="4069080"/>
            <a:ext cx="274320" cy="274320"/>
          </a:xfrm>
          <a:prstGeom prst="ellipse">
            <a:avLst/>
          </a:prstGeom>
          <a:solidFill>
            <a:srgbClr val="76B900"/>
          </a:solidFill>
          <a:ln w="12700">
            <a:solidFill>
              <a:srgbClr val="76B900"/>
            </a:solidFill>
            <a:prstDash val="solid"/>
          </a:ln>
        </p:spPr>
      </p:sp>
      <p:sp>
        <p:nvSpPr>
          <p:cNvPr id="31" name="Text 29"/>
          <p:cNvSpPr/>
          <p:nvPr/>
        </p:nvSpPr>
        <p:spPr>
          <a:xfrm>
            <a:off x="8522208" y="4069080"/>
            <a:ext cx="274320" cy="274320"/>
          </a:xfrm>
          <a:prstGeom prst="rect">
            <a:avLst/>
          </a:prstGeom>
          <a:noFill/>
          <a:ln/>
        </p:spPr>
        <p:txBody>
          <a:bodyPr wrap="square" lIns="0" tIns="0" rIns="0" bIns="0" rtlCol="0" anchor="ctr"/>
          <a:lstStyle/>
          <a:p>
            <a:pPr algn="ctr" indent="0" marL="0">
              <a:buNone/>
            </a:pPr>
            <a:r>
              <a:rPr lang="en-US" sz="1200" b="1" dirty="0">
                <a:solidFill>
                  <a:srgbClr val="0A0A0A"/>
                </a:solidFill>
                <a:latin typeface="Arial" pitchFamily="34" charset="0"/>
                <a:ea typeface="Arial" pitchFamily="34" charset="-122"/>
                <a:cs typeface="Arial" pitchFamily="34" charset="-120"/>
              </a:rPr>
              <a:t>✓</a:t>
            </a:r>
            <a:endParaRPr lang="en-US" sz="1200" dirty="0"/>
          </a:p>
        </p:txBody>
      </p:sp>
      <p:sp>
        <p:nvSpPr>
          <p:cNvPr id="32" name="Text 30"/>
          <p:cNvSpPr/>
          <p:nvPr/>
        </p:nvSpPr>
        <p:spPr>
          <a:xfrm>
            <a:off x="8887968" y="4032504"/>
            <a:ext cx="2651760" cy="3474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Assistant conversationnel</a:t>
            </a:r>
            <a:endParaRPr lang="en-US" sz="1450" dirty="0"/>
          </a:p>
        </p:txBody>
      </p:sp>
      <p:sp>
        <p:nvSpPr>
          <p:cNvPr id="33" name="Text 31"/>
          <p:cNvSpPr/>
          <p:nvPr/>
        </p:nvSpPr>
        <p:spPr>
          <a:xfrm>
            <a:off x="8522208" y="4507992"/>
            <a:ext cx="2926080" cy="822960"/>
          </a:xfrm>
          <a:prstGeom prst="rect">
            <a:avLst/>
          </a:prstGeom>
          <a:noFill/>
          <a:ln/>
        </p:spPr>
        <p:txBody>
          <a:bodyPr wrap="square" lIns="0" tIns="0" rIns="0" bIns="0" rtlCol="0" anchor="ctr"/>
          <a:lstStyle/>
          <a:p>
            <a:pPr indent="0" marL="0">
              <a:lnSpc>
                <a:spcPts val="1500"/>
              </a:lnSpc>
              <a:buNone/>
            </a:pPr>
            <a:r>
              <a:rPr lang="en-US" sz="1200" dirty="0">
                <a:solidFill>
                  <a:srgbClr val="9AA4AE"/>
                </a:solidFill>
                <a:latin typeface="Calibri" pitchFamily="34" charset="0"/>
                <a:ea typeface="Calibri" pitchFamily="34" charset="-122"/>
                <a:cs typeface="Calibri" pitchFamily="34" charset="-120"/>
              </a:rPr>
              <a:t>Recherche en langage naturel sur toutes les données.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640080" y="411480"/>
            <a:ext cx="10908792" cy="68580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Limites et suites</a:t>
            </a:r>
            <a:endParaRPr lang="en-US" sz="3400" dirty="0"/>
          </a:p>
        </p:txBody>
      </p:sp>
      <p:sp>
        <p:nvSpPr>
          <p:cNvPr id="3" name="Text 1"/>
          <p:cNvSpPr/>
          <p:nvPr/>
        </p:nvSpPr>
        <p:spPr>
          <a:xfrm>
            <a:off x="640080" y="1078992"/>
            <a:ext cx="10908792" cy="384048"/>
          </a:xfrm>
          <a:prstGeom prst="rect">
            <a:avLst/>
          </a:prstGeom>
          <a:noFill/>
          <a:ln/>
        </p:spPr>
        <p:txBody>
          <a:bodyPr wrap="square" lIns="0" tIns="0" rIns="0" bIns="0" rtlCol="0" anchor="ctr"/>
          <a:lstStyle/>
          <a:p>
            <a:pPr indent="0" marL="0">
              <a:buNone/>
            </a:pPr>
            <a:r>
              <a:rPr lang="en-US" sz="1400" dirty="0">
                <a:solidFill>
                  <a:srgbClr val="9AA4AE"/>
                </a:solidFill>
                <a:latin typeface="Calibri" pitchFamily="34" charset="0"/>
                <a:ea typeface="Calibri" pitchFamily="34" charset="-122"/>
                <a:cs typeface="Calibri" pitchFamily="34" charset="-120"/>
              </a:rPr>
              <a:t>Ce qui est assumé aujourd'hui, ce qui viendrait ensuite</a:t>
            </a:r>
            <a:endParaRPr lang="en-US" sz="1400" dirty="0"/>
          </a:p>
        </p:txBody>
      </p:sp>
      <p:sp>
        <p:nvSpPr>
          <p:cNvPr id="4" name="Shape 2"/>
          <p:cNvSpPr/>
          <p:nvPr/>
        </p:nvSpPr>
        <p:spPr>
          <a:xfrm>
            <a:off x="640080" y="1874520"/>
            <a:ext cx="5394960" cy="3383280"/>
          </a:xfrm>
          <a:prstGeom prst="roundRect">
            <a:avLst>
              <a:gd name="adj" fmla="val 2432"/>
            </a:avLst>
          </a:prstGeom>
          <a:solidFill>
            <a:srgbClr val="18181A"/>
          </a:solidFill>
          <a:ln w="12700">
            <a:solidFill>
              <a:srgbClr val="2A2A2A"/>
            </a:solidFill>
            <a:prstDash val="solid"/>
          </a:ln>
        </p:spPr>
      </p:sp>
      <p:sp>
        <p:nvSpPr>
          <p:cNvPr id="5" name="Text 3"/>
          <p:cNvSpPr/>
          <p:nvPr/>
        </p:nvSpPr>
        <p:spPr>
          <a:xfrm>
            <a:off x="960120" y="2103120"/>
            <a:ext cx="4754880"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Limites assumées</a:t>
            </a:r>
            <a:endParaRPr lang="en-US" sz="1800" dirty="0"/>
          </a:p>
        </p:txBody>
      </p:sp>
      <p:sp>
        <p:nvSpPr>
          <p:cNvPr id="6" name="Shape 4"/>
          <p:cNvSpPr/>
          <p:nvPr/>
        </p:nvSpPr>
        <p:spPr>
          <a:xfrm>
            <a:off x="987552" y="2724912"/>
            <a:ext cx="118872" cy="118872"/>
          </a:xfrm>
          <a:prstGeom prst="ellipse">
            <a:avLst/>
          </a:prstGeom>
          <a:solidFill>
            <a:srgbClr val="9AA4AE"/>
          </a:solidFill>
          <a:ln w="12700">
            <a:solidFill>
              <a:srgbClr val="9AA4AE"/>
            </a:solidFill>
            <a:prstDash val="solid"/>
          </a:ln>
        </p:spPr>
      </p:sp>
      <p:sp>
        <p:nvSpPr>
          <p:cNvPr id="7" name="Text 5"/>
          <p:cNvSpPr/>
          <p:nvPr/>
        </p:nvSpPr>
        <p:spPr>
          <a:xfrm>
            <a:off x="1261872" y="2651760"/>
            <a:ext cx="4480560" cy="640080"/>
          </a:xfrm>
          <a:prstGeom prst="rect">
            <a:avLst/>
          </a:prstGeom>
          <a:noFill/>
          <a:ln/>
        </p:spPr>
        <p:txBody>
          <a:bodyPr wrap="square" lIns="0" tIns="0" rIns="0" bIns="0" rtlCol="0" anchor="ctr"/>
          <a:lstStyle/>
          <a:p>
            <a:pPr indent="0" marL="0">
              <a:buNone/>
            </a:pPr>
            <a:r>
              <a:rPr lang="en-US" sz="1300" dirty="0">
                <a:solidFill>
                  <a:srgbClr val="9AA4AE"/>
                </a:solidFill>
                <a:latin typeface="Calibri" pitchFamily="34" charset="0"/>
                <a:ea typeface="Calibri" pitchFamily="34" charset="-122"/>
                <a:cs typeface="Calibri" pitchFamily="34" charset="-120"/>
              </a:rPr>
              <a:t>Recherche documentaire par mots-clés, sans vecteurs sémantiques.</a:t>
            </a:r>
            <a:endParaRPr lang="en-US" sz="1300" dirty="0"/>
          </a:p>
        </p:txBody>
      </p:sp>
      <p:sp>
        <p:nvSpPr>
          <p:cNvPr id="8" name="Shape 6"/>
          <p:cNvSpPr/>
          <p:nvPr/>
        </p:nvSpPr>
        <p:spPr>
          <a:xfrm>
            <a:off x="987552" y="3502152"/>
            <a:ext cx="118872" cy="118872"/>
          </a:xfrm>
          <a:prstGeom prst="ellipse">
            <a:avLst/>
          </a:prstGeom>
          <a:solidFill>
            <a:srgbClr val="9AA4AE"/>
          </a:solidFill>
          <a:ln w="12700">
            <a:solidFill>
              <a:srgbClr val="9AA4AE"/>
            </a:solidFill>
            <a:prstDash val="solid"/>
          </a:ln>
        </p:spPr>
      </p:sp>
      <p:sp>
        <p:nvSpPr>
          <p:cNvPr id="9" name="Text 7"/>
          <p:cNvSpPr/>
          <p:nvPr/>
        </p:nvSpPr>
        <p:spPr>
          <a:xfrm>
            <a:off x="1261872" y="3429000"/>
            <a:ext cx="4480560" cy="640080"/>
          </a:xfrm>
          <a:prstGeom prst="rect">
            <a:avLst/>
          </a:prstGeom>
          <a:noFill/>
          <a:ln/>
        </p:spPr>
        <p:txBody>
          <a:bodyPr wrap="square" lIns="0" tIns="0" rIns="0" bIns="0" rtlCol="0" anchor="ctr"/>
          <a:lstStyle/>
          <a:p>
            <a:pPr indent="0" marL="0">
              <a:buNone/>
            </a:pPr>
            <a:r>
              <a:rPr lang="en-US" sz="1300" dirty="0">
                <a:solidFill>
                  <a:srgbClr val="9AA4AE"/>
                </a:solidFill>
                <a:latin typeface="Calibri" pitchFamily="34" charset="0"/>
                <a:ea typeface="Calibri" pitchFamily="34" charset="-122"/>
                <a:cs typeface="Calibri" pitchFamily="34" charset="-120"/>
              </a:rPr>
              <a:t>Pas de limite de débit par utilisateur sur l'assistant.</a:t>
            </a:r>
            <a:endParaRPr lang="en-US" sz="1300" dirty="0"/>
          </a:p>
        </p:txBody>
      </p:sp>
      <p:sp>
        <p:nvSpPr>
          <p:cNvPr id="10" name="Shape 8"/>
          <p:cNvSpPr/>
          <p:nvPr/>
        </p:nvSpPr>
        <p:spPr>
          <a:xfrm>
            <a:off x="987552" y="4279392"/>
            <a:ext cx="118872" cy="118872"/>
          </a:xfrm>
          <a:prstGeom prst="ellipse">
            <a:avLst/>
          </a:prstGeom>
          <a:solidFill>
            <a:srgbClr val="9AA4AE"/>
          </a:solidFill>
          <a:ln w="12700">
            <a:solidFill>
              <a:srgbClr val="9AA4AE"/>
            </a:solidFill>
            <a:prstDash val="solid"/>
          </a:ln>
        </p:spPr>
      </p:sp>
      <p:sp>
        <p:nvSpPr>
          <p:cNvPr id="11" name="Text 9"/>
          <p:cNvSpPr/>
          <p:nvPr/>
        </p:nvSpPr>
        <p:spPr>
          <a:xfrm>
            <a:off x="1261872" y="4206240"/>
            <a:ext cx="4480560" cy="640080"/>
          </a:xfrm>
          <a:prstGeom prst="rect">
            <a:avLst/>
          </a:prstGeom>
          <a:noFill/>
          <a:ln/>
        </p:spPr>
        <p:txBody>
          <a:bodyPr wrap="square" lIns="0" tIns="0" rIns="0" bIns="0" rtlCol="0" anchor="ctr"/>
          <a:lstStyle/>
          <a:p>
            <a:pPr indent="0" marL="0">
              <a:buNone/>
            </a:pPr>
            <a:r>
              <a:rPr lang="en-US" sz="1300" dirty="0">
                <a:solidFill>
                  <a:srgbClr val="9AA4AE"/>
                </a:solidFill>
                <a:latin typeface="Calibri" pitchFamily="34" charset="0"/>
                <a:ea typeface="Calibri" pitchFamily="34" charset="-122"/>
                <a:cs typeface="Calibri" pitchFamily="34" charset="-120"/>
              </a:rPr>
              <a:t>L'expérience non extraite d'un CV est enregistrée à zéro.</a:t>
            </a:r>
            <a:endParaRPr lang="en-US" sz="1300" dirty="0"/>
          </a:p>
        </p:txBody>
      </p:sp>
      <p:sp>
        <p:nvSpPr>
          <p:cNvPr id="12" name="Shape 10"/>
          <p:cNvSpPr/>
          <p:nvPr/>
        </p:nvSpPr>
        <p:spPr>
          <a:xfrm>
            <a:off x="6355080" y="1874520"/>
            <a:ext cx="5193792" cy="3383280"/>
          </a:xfrm>
          <a:prstGeom prst="roundRect">
            <a:avLst>
              <a:gd name="adj" fmla="val 2432"/>
            </a:avLst>
          </a:prstGeom>
          <a:solidFill>
            <a:srgbClr val="202024"/>
          </a:solidFill>
          <a:ln w="12700">
            <a:solidFill>
              <a:srgbClr val="2A2A2A"/>
            </a:solidFill>
            <a:prstDash val="solid"/>
          </a:ln>
        </p:spPr>
      </p:sp>
      <p:sp>
        <p:nvSpPr>
          <p:cNvPr id="13" name="Text 11"/>
          <p:cNvSpPr/>
          <p:nvPr/>
        </p:nvSpPr>
        <p:spPr>
          <a:xfrm>
            <a:off x="6675120" y="2103120"/>
            <a:ext cx="4572000"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Prochaines étapes</a:t>
            </a:r>
            <a:endParaRPr lang="en-US" sz="1800" dirty="0"/>
          </a:p>
        </p:txBody>
      </p:sp>
      <p:sp>
        <p:nvSpPr>
          <p:cNvPr id="14" name="Shape 12"/>
          <p:cNvSpPr/>
          <p:nvPr/>
        </p:nvSpPr>
        <p:spPr>
          <a:xfrm>
            <a:off x="6675120" y="2651760"/>
            <a:ext cx="329184" cy="329184"/>
          </a:xfrm>
          <a:prstGeom prst="ellipse">
            <a:avLst/>
          </a:prstGeom>
          <a:solidFill>
            <a:srgbClr val="76B900"/>
          </a:solidFill>
          <a:ln w="12700">
            <a:solidFill>
              <a:srgbClr val="76B900"/>
            </a:solidFill>
            <a:prstDash val="solid"/>
          </a:ln>
        </p:spPr>
      </p:sp>
      <p:sp>
        <p:nvSpPr>
          <p:cNvPr id="15" name="Text 13"/>
          <p:cNvSpPr/>
          <p:nvPr/>
        </p:nvSpPr>
        <p:spPr>
          <a:xfrm>
            <a:off x="6675120" y="2651760"/>
            <a:ext cx="329184" cy="329184"/>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1</a:t>
            </a:r>
            <a:endParaRPr lang="en-US" sz="1400" dirty="0"/>
          </a:p>
        </p:txBody>
      </p:sp>
      <p:sp>
        <p:nvSpPr>
          <p:cNvPr id="16" name="Text 14"/>
          <p:cNvSpPr/>
          <p:nvPr/>
        </p:nvSpPr>
        <p:spPr>
          <a:xfrm>
            <a:off x="7132320" y="2651760"/>
            <a:ext cx="4023360" cy="292608"/>
          </a:xfrm>
          <a:prstGeom prst="rect">
            <a:avLst/>
          </a:prstGeom>
          <a:noFill/>
          <a:ln/>
        </p:spPr>
        <p:txBody>
          <a:bodyPr wrap="square" lIns="0" tIns="0" rIns="0" bIns="0" rtlCol="0" anchor="ctr"/>
          <a:lstStyle/>
          <a:p>
            <a:pPr indent="0" marL="0">
              <a:buNone/>
            </a:pPr>
            <a:r>
              <a:rPr lang="en-US" sz="1400" b="1" dirty="0">
                <a:solidFill>
                  <a:srgbClr val="76B900"/>
                </a:solidFill>
                <a:latin typeface="Arial" pitchFamily="34" charset="0"/>
                <a:ea typeface="Arial" pitchFamily="34" charset="-122"/>
                <a:cs typeface="Arial" pitchFamily="34" charset="-120"/>
              </a:rPr>
              <a:t>Recherche sémantique</a:t>
            </a:r>
            <a:endParaRPr lang="en-US" sz="1400" dirty="0"/>
          </a:p>
        </p:txBody>
      </p:sp>
      <p:sp>
        <p:nvSpPr>
          <p:cNvPr id="17" name="Text 15"/>
          <p:cNvSpPr/>
          <p:nvPr/>
        </p:nvSpPr>
        <p:spPr>
          <a:xfrm>
            <a:off x="7132320" y="2953512"/>
            <a:ext cx="4023360" cy="292608"/>
          </a:xfrm>
          <a:prstGeom prst="rect">
            <a:avLst/>
          </a:prstGeom>
          <a:noFill/>
          <a:ln/>
        </p:spPr>
        <p:txBody>
          <a:bodyPr wrap="square" lIns="0" tIns="0" rIns="0" bIns="0" rtlCol="0" anchor="ctr"/>
          <a:lstStyle/>
          <a:p>
            <a:pPr indent="0" marL="0">
              <a:buNone/>
            </a:pPr>
            <a:r>
              <a:rPr lang="en-US" sz="1200" dirty="0">
                <a:solidFill>
                  <a:srgbClr val="9AA4AE"/>
                </a:solidFill>
                <a:latin typeface="Calibri" pitchFamily="34" charset="0"/>
                <a:ea typeface="Calibri" pitchFamily="34" charset="-122"/>
                <a:cs typeface="Calibri" pitchFamily="34" charset="-120"/>
              </a:rPr>
              <a:t>vecteurs pgvector pour les synonymes</a:t>
            </a:r>
            <a:endParaRPr lang="en-US" sz="1200" dirty="0"/>
          </a:p>
        </p:txBody>
      </p:sp>
      <p:sp>
        <p:nvSpPr>
          <p:cNvPr id="18" name="Shape 16"/>
          <p:cNvSpPr/>
          <p:nvPr/>
        </p:nvSpPr>
        <p:spPr>
          <a:xfrm>
            <a:off x="6675120" y="3429000"/>
            <a:ext cx="329184" cy="329184"/>
          </a:xfrm>
          <a:prstGeom prst="ellipse">
            <a:avLst/>
          </a:prstGeom>
          <a:solidFill>
            <a:srgbClr val="76B900"/>
          </a:solidFill>
          <a:ln w="12700">
            <a:solidFill>
              <a:srgbClr val="76B900"/>
            </a:solidFill>
            <a:prstDash val="solid"/>
          </a:ln>
        </p:spPr>
      </p:sp>
      <p:sp>
        <p:nvSpPr>
          <p:cNvPr id="19" name="Text 17"/>
          <p:cNvSpPr/>
          <p:nvPr/>
        </p:nvSpPr>
        <p:spPr>
          <a:xfrm>
            <a:off x="6675120" y="3429000"/>
            <a:ext cx="329184" cy="329184"/>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2</a:t>
            </a:r>
            <a:endParaRPr lang="en-US" sz="1400" dirty="0"/>
          </a:p>
        </p:txBody>
      </p:sp>
      <p:sp>
        <p:nvSpPr>
          <p:cNvPr id="20" name="Text 18"/>
          <p:cNvSpPr/>
          <p:nvPr/>
        </p:nvSpPr>
        <p:spPr>
          <a:xfrm>
            <a:off x="7132320" y="3429000"/>
            <a:ext cx="4023360" cy="292608"/>
          </a:xfrm>
          <a:prstGeom prst="rect">
            <a:avLst/>
          </a:prstGeom>
          <a:noFill/>
          <a:ln/>
        </p:spPr>
        <p:txBody>
          <a:bodyPr wrap="square" lIns="0" tIns="0" rIns="0" bIns="0" rtlCol="0" anchor="ctr"/>
          <a:lstStyle/>
          <a:p>
            <a:pPr indent="0" marL="0">
              <a:buNone/>
            </a:pPr>
            <a:r>
              <a:rPr lang="en-US" sz="1400" b="1" dirty="0">
                <a:solidFill>
                  <a:srgbClr val="76B900"/>
                </a:solidFill>
                <a:latin typeface="Arial" pitchFamily="34" charset="0"/>
                <a:ea typeface="Arial" pitchFamily="34" charset="-122"/>
                <a:cs typeface="Arial" pitchFamily="34" charset="-120"/>
              </a:rPr>
              <a:t>Quotas par utilisateur</a:t>
            </a:r>
            <a:endParaRPr lang="en-US" sz="1400" dirty="0"/>
          </a:p>
        </p:txBody>
      </p:sp>
      <p:sp>
        <p:nvSpPr>
          <p:cNvPr id="21" name="Text 19"/>
          <p:cNvSpPr/>
          <p:nvPr/>
        </p:nvSpPr>
        <p:spPr>
          <a:xfrm>
            <a:off x="7132320" y="3730752"/>
            <a:ext cx="4023360" cy="292608"/>
          </a:xfrm>
          <a:prstGeom prst="rect">
            <a:avLst/>
          </a:prstGeom>
          <a:noFill/>
          <a:ln/>
        </p:spPr>
        <p:txBody>
          <a:bodyPr wrap="square" lIns="0" tIns="0" rIns="0" bIns="0" rtlCol="0" anchor="ctr"/>
          <a:lstStyle/>
          <a:p>
            <a:pPr indent="0" marL="0">
              <a:buNone/>
            </a:pPr>
            <a:r>
              <a:rPr lang="en-US" sz="1200" dirty="0">
                <a:solidFill>
                  <a:srgbClr val="9AA4AE"/>
                </a:solidFill>
                <a:latin typeface="Calibri" pitchFamily="34" charset="0"/>
                <a:ea typeface="Calibri" pitchFamily="34" charset="-122"/>
                <a:cs typeface="Calibri" pitchFamily="34" charset="-120"/>
              </a:rPr>
              <a:t>maîtriser le coût des appels au modèle</a:t>
            </a:r>
            <a:endParaRPr lang="en-US" sz="1200" dirty="0"/>
          </a:p>
        </p:txBody>
      </p:sp>
      <p:sp>
        <p:nvSpPr>
          <p:cNvPr id="22" name="Shape 20"/>
          <p:cNvSpPr/>
          <p:nvPr/>
        </p:nvSpPr>
        <p:spPr>
          <a:xfrm>
            <a:off x="6675120" y="4206240"/>
            <a:ext cx="329184" cy="329184"/>
          </a:xfrm>
          <a:prstGeom prst="ellipse">
            <a:avLst/>
          </a:prstGeom>
          <a:solidFill>
            <a:srgbClr val="76B900"/>
          </a:solidFill>
          <a:ln w="12700">
            <a:solidFill>
              <a:srgbClr val="76B900"/>
            </a:solidFill>
            <a:prstDash val="solid"/>
          </a:ln>
        </p:spPr>
      </p:sp>
      <p:sp>
        <p:nvSpPr>
          <p:cNvPr id="23" name="Text 21"/>
          <p:cNvSpPr/>
          <p:nvPr/>
        </p:nvSpPr>
        <p:spPr>
          <a:xfrm>
            <a:off x="6675120" y="4206240"/>
            <a:ext cx="329184" cy="329184"/>
          </a:xfrm>
          <a:prstGeom prst="rect">
            <a:avLst/>
          </a:prstGeom>
          <a:noFill/>
          <a:ln/>
        </p:spPr>
        <p:txBody>
          <a:bodyPr wrap="square" lIns="0" tIns="0" rIns="0" bIns="0" rtlCol="0" anchor="ctr"/>
          <a:lstStyle/>
          <a:p>
            <a:pPr algn="ctr" indent="0" marL="0">
              <a:buNone/>
            </a:pPr>
            <a:r>
              <a:rPr lang="en-US" sz="1400" b="1" dirty="0">
                <a:solidFill>
                  <a:srgbClr val="0A0A0A"/>
                </a:solidFill>
                <a:latin typeface="Arial" pitchFamily="34" charset="0"/>
                <a:ea typeface="Arial" pitchFamily="34" charset="-122"/>
                <a:cs typeface="Arial" pitchFamily="34" charset="-120"/>
              </a:rPr>
              <a:t>3</a:t>
            </a:r>
            <a:endParaRPr lang="en-US" sz="1400" dirty="0"/>
          </a:p>
        </p:txBody>
      </p:sp>
      <p:sp>
        <p:nvSpPr>
          <p:cNvPr id="24" name="Text 22"/>
          <p:cNvSpPr/>
          <p:nvPr/>
        </p:nvSpPr>
        <p:spPr>
          <a:xfrm>
            <a:off x="7132320" y="4206240"/>
            <a:ext cx="4023360" cy="292608"/>
          </a:xfrm>
          <a:prstGeom prst="rect">
            <a:avLst/>
          </a:prstGeom>
          <a:noFill/>
          <a:ln/>
        </p:spPr>
        <p:txBody>
          <a:bodyPr wrap="square" lIns="0" tIns="0" rIns="0" bIns="0" rtlCol="0" anchor="ctr"/>
          <a:lstStyle/>
          <a:p>
            <a:pPr indent="0" marL="0">
              <a:buNone/>
            </a:pPr>
            <a:r>
              <a:rPr lang="en-US" sz="1400" b="1" dirty="0">
                <a:solidFill>
                  <a:srgbClr val="76B900"/>
                </a:solidFill>
                <a:latin typeface="Arial" pitchFamily="34" charset="0"/>
                <a:ea typeface="Arial" pitchFamily="34" charset="-122"/>
                <a:cs typeface="Arial" pitchFamily="34" charset="-120"/>
              </a:rPr>
              <a:t>Actions guidées</a:t>
            </a:r>
            <a:endParaRPr lang="en-US" sz="1400" dirty="0"/>
          </a:p>
        </p:txBody>
      </p:sp>
      <p:sp>
        <p:nvSpPr>
          <p:cNvPr id="25" name="Text 23"/>
          <p:cNvSpPr/>
          <p:nvPr/>
        </p:nvSpPr>
        <p:spPr>
          <a:xfrm>
            <a:off x="7132320" y="4507992"/>
            <a:ext cx="4023360" cy="292608"/>
          </a:xfrm>
          <a:prstGeom prst="rect">
            <a:avLst/>
          </a:prstGeom>
          <a:noFill/>
          <a:ln/>
        </p:spPr>
        <p:txBody>
          <a:bodyPr wrap="square" lIns="0" tIns="0" rIns="0" bIns="0" rtlCol="0" anchor="ctr"/>
          <a:lstStyle/>
          <a:p>
            <a:pPr indent="0" marL="0">
              <a:buNone/>
            </a:pPr>
            <a:r>
              <a:rPr lang="en-US" sz="1200" dirty="0">
                <a:solidFill>
                  <a:srgbClr val="9AA4AE"/>
                </a:solidFill>
                <a:latin typeface="Calibri" pitchFamily="34" charset="0"/>
                <a:ea typeface="Calibri" pitchFamily="34" charset="-122"/>
                <a:cs typeface="Calibri" pitchFamily="34" charset="-120"/>
              </a:rPr>
              <a:t>laisser l'assistant agir, sous confirmation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5486400" y="5623560"/>
            <a:ext cx="23774400" cy="5029200"/>
          </a:xfrm>
          <a:prstGeom prst="ellipse">
            <a:avLst/>
          </a:prstGeom>
          <a:solidFill>
            <a:srgbClr val="76B900">
              <a:alpha val="7000"/>
            </a:srgbClr>
          </a:solidFill>
          <a:ln w="12700">
            <a:solidFill>
              <a:srgbClr val="76B900">
                <a:alpha val="0"/>
              </a:srgbClr>
            </a:solidFill>
            <a:prstDash val="solid"/>
          </a:ln>
        </p:spPr>
      </p:sp>
      <p:sp>
        <p:nvSpPr>
          <p:cNvPr id="3" name="Text 1"/>
          <p:cNvSpPr/>
          <p:nvPr/>
        </p:nvSpPr>
        <p:spPr>
          <a:xfrm>
            <a:off x="640080" y="2286000"/>
            <a:ext cx="7315200" cy="100584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Merci</a:t>
            </a:r>
            <a:endParaRPr lang="en-US" sz="5200" dirty="0"/>
          </a:p>
        </p:txBody>
      </p:sp>
      <p:sp>
        <p:nvSpPr>
          <p:cNvPr id="4" name="Text 2"/>
          <p:cNvSpPr/>
          <p:nvPr/>
        </p:nvSpPr>
        <p:spPr>
          <a:xfrm>
            <a:off x="640080" y="3383280"/>
            <a:ext cx="7680960" cy="914400"/>
          </a:xfrm>
          <a:prstGeom prst="rect">
            <a:avLst/>
          </a:prstGeom>
          <a:noFill/>
          <a:ln/>
        </p:spPr>
        <p:txBody>
          <a:bodyPr wrap="square" lIns="0" tIns="0" rIns="0" bIns="0" rtlCol="0" anchor="ctr"/>
          <a:lstStyle/>
          <a:p>
            <a:pPr indent="0" marL="0">
              <a:buNone/>
            </a:pPr>
            <a:r>
              <a:rPr lang="en-US" sz="1700" dirty="0">
                <a:solidFill>
                  <a:srgbClr val="9AA4AE"/>
                </a:solidFill>
                <a:latin typeface="Calibri" pitchFamily="34" charset="0"/>
                <a:ea typeface="Calibri" pitchFamily="34" charset="-122"/>
                <a:cs typeface="Calibri" pitchFamily="34" charset="-120"/>
              </a:rPr>
              <a:t>Une plateforme qui lit les CV, justifie ses scores,</a:t>
            </a:r>
            <a:endParaRPr lang="en-US" sz="1700" dirty="0"/>
          </a:p>
          <a:p>
            <a:pPr indent="0" marL="0">
              <a:buNone/>
            </a:pPr>
            <a:r>
              <a:rPr lang="en-US" sz="1700" dirty="0">
                <a:solidFill>
                  <a:srgbClr val="9AA4AE"/>
                </a:solidFill>
                <a:latin typeface="Calibri" pitchFamily="34" charset="0"/>
                <a:ea typeface="Calibri" pitchFamily="34" charset="-122"/>
                <a:cs typeface="Calibri" pitchFamily="34" charset="-120"/>
              </a:rPr>
              <a:t>et affecte les stagiaires de façon optimale.</a:t>
            </a:r>
            <a:endParaRPr lang="en-US" sz="1700" dirty="0"/>
          </a:p>
        </p:txBody>
      </p:sp>
      <p:sp>
        <p:nvSpPr>
          <p:cNvPr id="5" name="Text 3"/>
          <p:cNvSpPr/>
          <p:nvPr/>
        </p:nvSpPr>
        <p:spPr>
          <a:xfrm>
            <a:off x="640080" y="4663440"/>
            <a:ext cx="3657600" cy="457200"/>
          </a:xfrm>
          <a:prstGeom prst="rect">
            <a:avLst/>
          </a:prstGeom>
          <a:noFill/>
          <a:ln/>
        </p:spPr>
        <p:txBody>
          <a:bodyPr wrap="square" lIns="0" tIns="0" rIns="0" bIns="0" rtlCol="0" anchor="ctr"/>
          <a:lstStyle/>
          <a:p>
            <a:pPr indent="0" marL="0">
              <a:buNone/>
            </a:pPr>
            <a:r>
              <a:rPr lang="en-US" sz="1800" b="1" dirty="0">
                <a:solidFill>
                  <a:srgbClr val="76B900"/>
                </a:solidFill>
                <a:latin typeface="Arial" pitchFamily="34" charset="0"/>
                <a:ea typeface="Arial" pitchFamily="34" charset="-122"/>
                <a:cs typeface="Arial" pitchFamily="34" charset="-120"/>
              </a:rPr>
              <a:t>Questions</a:t>
            </a:r>
            <a:endParaRPr lang="en-US" sz="1800" dirty="0"/>
          </a:p>
        </p:txBody>
      </p:sp>
      <p:sp>
        <p:nvSpPr>
          <p:cNvPr id="6" name="Text 4"/>
          <p:cNvSpPr/>
          <p:nvPr/>
        </p:nvSpPr>
        <p:spPr>
          <a:xfrm>
            <a:off x="640080" y="6035040"/>
            <a:ext cx="7315200" cy="320040"/>
          </a:xfrm>
          <a:prstGeom prst="rect">
            <a:avLst/>
          </a:prstGeom>
          <a:noFill/>
          <a:ln/>
        </p:spPr>
        <p:txBody>
          <a:bodyPr wrap="square" lIns="0" tIns="0" rIns="0" bIns="0" rtlCol="0" anchor="ctr"/>
          <a:lstStyle/>
          <a:p>
            <a:pPr indent="0" marL="0">
              <a:buNone/>
            </a:pPr>
            <a:r>
              <a:rPr lang="en-US" sz="1200" dirty="0">
                <a:solidFill>
                  <a:srgbClr val="9AA4AE"/>
                </a:solidFill>
                <a:latin typeface="Calibri" pitchFamily="34" charset="0"/>
                <a:ea typeface="Calibri" pitchFamily="34" charset="-122"/>
                <a:cs typeface="Calibri" pitchFamily="34" charset="-120"/>
              </a:rPr>
              <a:t>Assistant IA de gestion des stages  ·  OCP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OCP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Assistant IA de gestion des stages</dc:title>
  <dc:subject>PptxGenJS Presentation</dc:subject>
  <dc:creator>Abdellah Bedda</dc:creator>
  <cp:lastModifiedBy>Abdellah Bedda</cp:lastModifiedBy>
  <cp:revision>1</cp:revision>
  <dcterms:created xsi:type="dcterms:W3CDTF">2026-08-18T08:53:19Z</dcterms:created>
  <dcterms:modified xsi:type="dcterms:W3CDTF">2026-08-18T08:53:19Z</dcterms:modified>
</cp:coreProperties>
</file>